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plan-wise.ru" TargetMode="External"/><Relationship Id="rId2" Type="http://schemas.openxmlformats.org/officeDocument/2006/relationships/hyperlink" Target="https://github.com/Caspernik-dev/planwise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aspernik-dev/planwise" TargetMode="External"/><Relationship Id="rId1" Type="http://schemas.openxmlformats.org/officeDocument/2006/relationships/image" Target="../media/image-12-1.png"/><Relationship Id="rId3" Type="http://schemas.openxmlformats.org/officeDocument/2006/relationships/image" Target="../media/image-1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35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3840480" cy="3840480"/>
          </a:xfrm>
          <a:prstGeom prst="ellipse">
            <a:avLst/>
          </a:prstGeom>
          <a:solidFill>
            <a:srgbClr val="0E4F30"/>
          </a:solidFill>
          <a:ln/>
        </p:spPr>
      </p:sp>
      <p:sp>
        <p:nvSpPr>
          <p:cNvPr id="4" name="Shape 2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0E4F3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600" kern="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PLANWISE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«Классный час»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ИИ-генератор сценариев внеурочных занятий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406908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методический сценарий за </a:t>
            </a:r>
            <a:pPr indent="0" marL="0">
              <a:buNone/>
            </a:pPr>
            <a:r>
              <a:rPr lang="en-US" sz="2000" b="1" dirty="0">
                <a:solidFill>
                  <a:srgbClr val="F5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минуты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вместо </a:t>
            </a:r>
            <a:pPr indent="0" marL="0">
              <a:buNone/>
            </a:pPr>
            <a:r>
              <a:rPr lang="en-US" sz="2000" b="1" dirty="0">
                <a:solidFill>
                  <a:srgbClr val="F5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часов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ручной подготовки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52120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базе GigaChat • опора на методички «Разговоры о важном» • защита персональных данных детей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5989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FB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5 • Хакатон 2026 • живое демо: </a:t>
            </a:r>
            <a:pPr indent="0" marL="0">
              <a:buNone/>
            </a:pPr>
            <a:r>
              <a:rPr lang="en-US" sz="1300" b="1" i="1" u="sng" dirty="0">
                <a:solidFill>
                  <a:srgbClr val="F5B8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plan-wise.ru</a:t>
            </a:r>
            <a:pPr indent="0" marL="0">
              <a:buNone/>
            </a:pPr>
            <a:r>
              <a:rPr lang="en-US" sz="1300" i="1" dirty="0">
                <a:solidFill>
                  <a:srgbClr val="7FB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код: </a:t>
            </a:r>
            <a:pPr indent="0" marL="0">
              <a:buNone/>
            </a:pPr>
            <a:r>
              <a:rPr lang="en-US" sz="1300" b="1" i="1" u="sng" dirty="0">
                <a:solidFill>
                  <a:srgbClr val="F5B8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github.com/Caspernik-dev/planwise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КОМАНДА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Команда и зоны ответственности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529584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011680"/>
            <a:ext cx="91440" cy="187452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12848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 / Research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2724912"/>
            <a:ext cx="307238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Продуктовое исследование, интервью с классными руководителями, приоритизация сценариев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14400" y="3493008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delpdelv, reynalds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25696" y="2011680"/>
            <a:ext cx="3529584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25696" y="2011680"/>
            <a:ext cx="91440" cy="187452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12" name="Text 10"/>
          <p:cNvSpPr/>
          <p:nvPr/>
        </p:nvSpPr>
        <p:spPr>
          <a:xfrm>
            <a:off x="4700016" y="2212848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Backend / LLM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00016" y="2724912"/>
            <a:ext cx="307238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 с GigaChat, промпт-инжиниринг, стриминг генерации, серверная логика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700016" y="3493008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delpdelv, reynalds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11312" y="2011680"/>
            <a:ext cx="3529584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11312" y="2011680"/>
            <a:ext cx="91440" cy="187452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17" name="Text 15"/>
          <p:cNvSpPr/>
          <p:nvPr/>
        </p:nvSpPr>
        <p:spPr>
          <a:xfrm>
            <a:off x="8485632" y="2212848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/ RAG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85632" y="2724912"/>
            <a:ext cx="307238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Парсинг «Разговоров о важном», эмбеддинги, гибридный поиск, библиотека сообщества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485632" y="3493008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reynalds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160520"/>
            <a:ext cx="3529584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4160520"/>
            <a:ext cx="91440" cy="187452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361688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Frontend / UX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14400" y="4873752"/>
            <a:ext cx="307238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Кабинет педагога, блочный редактор, календарь, экспорт PDF/DOCX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14400" y="5641848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delpdelv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425696" y="4160520"/>
            <a:ext cx="3529584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425696" y="4160520"/>
            <a:ext cx="91440" cy="187452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27" name="Text 25"/>
          <p:cNvSpPr/>
          <p:nvPr/>
        </p:nvSpPr>
        <p:spPr>
          <a:xfrm>
            <a:off x="4700016" y="4361688"/>
            <a:ext cx="30723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DevOps / Security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700016" y="4873752"/>
            <a:ext cx="307238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Развёртывание, изоляция данных, rate-limit, анонимизация ПДн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700016" y="5641848"/>
            <a:ext cx="29809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delpdelv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211312" y="4160520"/>
            <a:ext cx="3529584" cy="868680"/>
          </a:xfrm>
          <a:prstGeom prst="rect">
            <a:avLst/>
          </a:prstGeom>
          <a:solidFill>
            <a:srgbClr val="F8F9F7"/>
          </a:solidFill>
          <a:ln w="15240">
            <a:solidFill>
              <a:srgbClr val="21A66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4251960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Продуктовое исследование: </a:t>
            </a:r>
            <a:pPr indent="0" marL="0">
              <a:buNone/>
            </a:pPr>
            <a:r>
              <a:rPr lang="en-US" sz="12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выявлены трудозатраты, типовые форматы и приоритетные сценарии.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211312" y="5166360"/>
            <a:ext cx="3529584" cy="1463040"/>
          </a:xfrm>
          <a:prstGeom prst="rect">
            <a:avLst/>
          </a:prstGeom>
          <a:solidFill>
            <a:srgbClr val="0935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439912" y="5303520"/>
            <a:ext cx="30723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Команда Planwise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439912" y="5779008"/>
            <a:ext cx="3072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Никита Феоктистов </a:t>
            </a:r>
            <a:pPr indent="0" marL="0">
              <a:buNone/>
            </a:pPr>
            <a:r>
              <a:rPr lang="en-US" sz="13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(delpdelv)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8439912" y="6172200"/>
            <a:ext cx="30723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Данияр Хабибуллин </a:t>
            </a:r>
            <a:pPr indent="0" marL="0">
              <a:buNone/>
            </a:pPr>
            <a:r>
              <a:rPr lang="en-US" sz="13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(reynalds)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ПРОБЛЕМА И ПОЛЬЗОВАТЕЛИ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1–3 часа на каждый сценарий → выгорание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4864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194560"/>
            <a:ext cx="640080" cy="64008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1" y="236098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224028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Кто пользователь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05840" y="297180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Классный руководитель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Советник по воспитанию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Педагог-организатор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1005840" y="4160520"/>
            <a:ext cx="4754880" cy="0"/>
          </a:xfrm>
          <a:prstGeom prst="line">
            <a:avLst/>
          </a:prstGeom>
          <a:noFill/>
          <a:ln w="12700">
            <a:solidFill>
              <a:srgbClr val="E4E6E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4251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столкновения с проблемой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05840" y="461772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«Вечер воскресенья. Завтра классный час по патриотическому направлению для 7 класса. Методичек много, времени нет — нужен вовлекающий сценарий с хронометражем и вопросами, а не реферат».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355080" y="1965960"/>
            <a:ext cx="5166360" cy="1874520"/>
          </a:xfrm>
          <a:prstGeom prst="rect">
            <a:avLst/>
          </a:prstGeom>
          <a:solidFill>
            <a:srgbClr val="0935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537960" y="210312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1–3 ч</a:t>
            </a:r>
            <a:endParaRPr lang="en-US" sz="4600" dirty="0"/>
          </a:p>
        </p:txBody>
      </p:sp>
      <p:sp>
        <p:nvSpPr>
          <p:cNvPr id="15" name="Text 12"/>
          <p:cNvSpPr/>
          <p:nvPr/>
        </p:nvSpPr>
        <p:spPr>
          <a:xfrm>
            <a:off x="6537960" y="297180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подготовку одного сценария вручную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9098280" y="2240280"/>
            <a:ext cx="0" cy="1280160"/>
          </a:xfrm>
          <a:prstGeom prst="line">
            <a:avLst/>
          </a:prstGeom>
          <a:noFill/>
          <a:ln w="19050">
            <a:solidFill>
              <a:srgbClr val="0E4F3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281160" y="210312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30+</a:t>
            </a:r>
            <a:endParaRPr lang="en-US" sz="4600" dirty="0"/>
          </a:p>
        </p:txBody>
      </p:sp>
      <p:sp>
        <p:nvSpPr>
          <p:cNvPr id="18" name="Text 15"/>
          <p:cNvSpPr/>
          <p:nvPr/>
        </p:nvSpPr>
        <p:spPr>
          <a:xfrm>
            <a:off x="9281160" y="297180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занятий за четверть = десятки часов рутины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355080" y="3977640"/>
            <a:ext cx="51663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583680" y="41148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мешает сегодня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6629400" y="4617720"/>
            <a:ext cx="4709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Методички разрознены, единого источника нет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Голый ChatGPT/GigaChat даёт «простыню» без хронометража и воспитательных результатов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Нельзя загружать данные детей в чужой ИИ — риск утечки ПДн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РЕШЕНИЕ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Методический инструмент, а не обёртка над ИИ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Задал контекст </a:t>
            </a:r>
            <a:pPr indent="0" marL="0">
              <a:buNone/>
            </a:pPr>
            <a:r>
              <a:rPr lang="en-US" sz="1500" b="1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(направление · класс · тема · формат · длительность)</a:t>
            </a:r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ИИ собрал сценарий с опорой на методички  →  отредактировал  →  выгрузил в PDF/DOCX.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4747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487168"/>
            <a:ext cx="502920" cy="50292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2617927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8760" y="2395728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Ручной ввод темы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43400" y="2331720"/>
            <a:ext cx="34747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2487168"/>
            <a:ext cx="502920" cy="50292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7039" y="2617927"/>
            <a:ext cx="241402" cy="2414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12080" y="2395728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 плана школы — система сама предложит следующую незакрытую тему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46720" y="2331720"/>
            <a:ext cx="34747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0" y="2487168"/>
            <a:ext cx="502920" cy="50292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0359" y="2617927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15400" y="2395728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поводов или библиотека сообщества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611880"/>
          <a:ext cx="10881360" cy="914400"/>
        </p:xfrm>
        <a:graphic>
          <a:graphicData uri="http://schemas.openxmlformats.org/drawingml/2006/table">
            <a:tbl>
              <a:tblPr/>
              <a:tblGrid>
                <a:gridCol w="4297680"/>
                <a:gridCol w="2194560"/>
                <a:gridCol w="2194560"/>
                <a:gridCol w="21945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Возможность</a:t>
                      </a:r>
                      <a:endParaRPr lang="en-US" sz="125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Голый ChatGPT</a:t>
                      </a:r>
                      <a:endParaRPr lang="en-US" sz="125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Методички PDF</a:t>
                      </a:r>
                      <a:endParaRPr lang="en-US" sz="125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Planwise</a:t>
                      </a:r>
                      <a:endParaRPr lang="en-US" sz="125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Структура: этапы + хронометраж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17670"/>
                          </a:solidFill>
                        </a:rPr>
                        <a:t>статично</a:t>
                      </a:r>
                      <a:endParaRPr lang="en-US" sz="11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Воспитательные результаты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Опора на «Разговоры о важном»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17670"/>
                          </a:solidFill>
                        </a:rPr>
                        <a:t>ищи сам</a:t>
                      </a:r>
                      <a:endParaRPr lang="en-US" sz="11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1A663"/>
                          </a:solidFill>
                        </a:rPr>
                        <a:t>✓ RAG авто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Загрузка плана + следующая тема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Свой материал как основа сценария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17670"/>
                          </a:solidFill>
                        </a:rPr>
                        <a:t>вручную</a:t>
                      </a:r>
                      <a:endParaRPr lang="en-US" sz="11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Защита ПДн детей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07800"/>
                          </a:solidFill>
                        </a:rPr>
                        <a:t>утекают</a:t>
                      </a:r>
                      <a:endParaRPr lang="en-US" sz="11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Редактор + фирменный PDF / DOCX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Библиотека сообщества + шаринг по ссылке</a:t>
                      </a:r>
                      <a:endParaRPr lang="en-US" sz="12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71767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1A663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6200" marR="50800" marT="25400" marB="254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ТЕХНИЧЕСКАЯ РЕАЛИЗАЦИЯ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Клиент ↔ сервер ↔ LLM ↔ БД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4747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121408"/>
            <a:ext cx="548640" cy="54864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" y="2264054"/>
            <a:ext cx="263347" cy="2633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2029968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Next.js 15 (монолит)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68680" y="269748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Router, Server Actions, Route Handlers, TypeScript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114800" y="1920240"/>
            <a:ext cx="228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1A663"/>
                </a:solidFill>
              </a:rPr>
              <a:t>↔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343400" y="1920240"/>
            <a:ext cx="34747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44568" y="2121408"/>
            <a:ext cx="548640" cy="54864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7214" y="2264054"/>
            <a:ext cx="263347" cy="26334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57800" y="2029968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GigaChat (внешний API)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4572000" y="269748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+ EmbeddingsGigaR (2560d). Локальные модели запрещены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7818120" y="1920240"/>
            <a:ext cx="228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1A663"/>
                </a:solidFill>
              </a:rPr>
              <a:t>↔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8046720" y="1920240"/>
            <a:ext cx="34747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47888" y="2121408"/>
            <a:ext cx="548640" cy="54864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0534" y="2264054"/>
            <a:ext cx="263347" cy="26334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61120" y="2029968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 16 + pgvector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8275320" y="269748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сценарии · планы · календарь · RAG-корпус · лайки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640080" y="3611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Пайплайн генерации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640080" y="4069080"/>
            <a:ext cx="1264158" cy="77724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24" name="Text 19"/>
          <p:cNvSpPr/>
          <p:nvPr/>
        </p:nvSpPr>
        <p:spPr>
          <a:xfrm>
            <a:off x="640080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676656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2013966" y="4069080"/>
            <a:ext cx="1264158" cy="77724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27" name="Text 22"/>
          <p:cNvSpPr/>
          <p:nvPr/>
        </p:nvSpPr>
        <p:spPr>
          <a:xfrm>
            <a:off x="2013966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2050542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Анонимизация ПДн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3387852" y="4069080"/>
            <a:ext cx="1264158" cy="77724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30" name="Text 25"/>
          <p:cNvSpPr/>
          <p:nvPr/>
        </p:nvSpPr>
        <p:spPr>
          <a:xfrm>
            <a:off x="3387852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6"/>
          <p:cNvSpPr/>
          <p:nvPr/>
        </p:nvSpPr>
        <p:spPr>
          <a:xfrm>
            <a:off x="3424428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Pre-match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4761738" y="4069080"/>
            <a:ext cx="1264158" cy="77724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33" name="Text 28"/>
          <p:cNvSpPr/>
          <p:nvPr/>
        </p:nvSpPr>
        <p:spPr>
          <a:xfrm>
            <a:off x="4761738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Text 29"/>
          <p:cNvSpPr/>
          <p:nvPr/>
        </p:nvSpPr>
        <p:spPr>
          <a:xfrm>
            <a:off x="4798314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RAG-поиск</a:t>
            </a:r>
            <a:endParaRPr lang="en-US" sz="1000" dirty="0"/>
          </a:p>
        </p:txBody>
      </p:sp>
      <p:sp>
        <p:nvSpPr>
          <p:cNvPr id="35" name="Shape 30"/>
          <p:cNvSpPr/>
          <p:nvPr/>
        </p:nvSpPr>
        <p:spPr>
          <a:xfrm>
            <a:off x="6135624" y="4069080"/>
            <a:ext cx="1264158" cy="77724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36" name="Text 31"/>
          <p:cNvSpPr/>
          <p:nvPr/>
        </p:nvSpPr>
        <p:spPr>
          <a:xfrm>
            <a:off x="6135624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2"/>
          <p:cNvSpPr/>
          <p:nvPr/>
        </p:nvSpPr>
        <p:spPr>
          <a:xfrm>
            <a:off x="6172200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Каркас + план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7509510" y="4069080"/>
            <a:ext cx="1264158" cy="77724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39" name="Text 34"/>
          <p:cNvSpPr/>
          <p:nvPr/>
        </p:nvSpPr>
        <p:spPr>
          <a:xfrm>
            <a:off x="7509510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200" dirty="0"/>
          </a:p>
        </p:txBody>
      </p:sp>
      <p:sp>
        <p:nvSpPr>
          <p:cNvPr id="40" name="Text 35"/>
          <p:cNvSpPr/>
          <p:nvPr/>
        </p:nvSpPr>
        <p:spPr>
          <a:xfrm>
            <a:off x="7546086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Блоки ×N</a:t>
            </a:r>
            <a:endParaRPr lang="en-US" sz="1000" dirty="0"/>
          </a:p>
        </p:txBody>
      </p:sp>
      <p:sp>
        <p:nvSpPr>
          <p:cNvPr id="41" name="Shape 36"/>
          <p:cNvSpPr/>
          <p:nvPr/>
        </p:nvSpPr>
        <p:spPr>
          <a:xfrm>
            <a:off x="8883396" y="4069080"/>
            <a:ext cx="1264158" cy="77724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42" name="Text 37"/>
          <p:cNvSpPr/>
          <p:nvPr/>
        </p:nvSpPr>
        <p:spPr>
          <a:xfrm>
            <a:off x="8883396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38"/>
          <p:cNvSpPr/>
          <p:nvPr/>
        </p:nvSpPr>
        <p:spPr>
          <a:xfrm>
            <a:off x="8919972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качества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10257282" y="4069080"/>
            <a:ext cx="1264158" cy="77724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45" name="Text 40"/>
          <p:cNvSpPr/>
          <p:nvPr/>
        </p:nvSpPr>
        <p:spPr>
          <a:xfrm>
            <a:off x="10257282" y="4123944"/>
            <a:ext cx="1264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ext 41"/>
          <p:cNvSpPr/>
          <p:nvPr/>
        </p:nvSpPr>
        <p:spPr>
          <a:xfrm>
            <a:off x="10293858" y="4361688"/>
            <a:ext cx="119100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Сохранение</a:t>
            </a:r>
            <a:endParaRPr lang="en-US" sz="1000" dirty="0"/>
          </a:p>
        </p:txBody>
      </p:sp>
      <p:sp>
        <p:nvSpPr>
          <p:cNvPr id="47" name="Shape 42"/>
          <p:cNvSpPr/>
          <p:nvPr/>
        </p:nvSpPr>
        <p:spPr>
          <a:xfrm>
            <a:off x="640080" y="5212080"/>
            <a:ext cx="3474720" cy="123444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48" name="Shape 43"/>
          <p:cNvSpPr/>
          <p:nvPr/>
        </p:nvSpPr>
        <p:spPr>
          <a:xfrm>
            <a:off x="822960" y="5413248"/>
            <a:ext cx="457200" cy="45720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4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5532120"/>
            <a:ext cx="219456" cy="219456"/>
          </a:xfrm>
          <a:prstGeom prst="rect">
            <a:avLst/>
          </a:prstGeom>
        </p:spPr>
      </p:pic>
      <p:sp>
        <p:nvSpPr>
          <p:cNvPr id="50" name="Text 44"/>
          <p:cNvSpPr/>
          <p:nvPr/>
        </p:nvSpPr>
        <p:spPr>
          <a:xfrm>
            <a:off x="1417320" y="537667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+ промпты</a:t>
            </a:r>
            <a:endParaRPr lang="en-US" sz="1350" dirty="0"/>
          </a:p>
        </p:txBody>
      </p:sp>
      <p:sp>
        <p:nvSpPr>
          <p:cNvPr id="51" name="Text 45"/>
          <p:cNvSpPr/>
          <p:nvPr/>
        </p:nvSpPr>
        <p:spPr>
          <a:xfrm>
            <a:off x="868680" y="587044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блокам: каркас+контент-план → блоки по очереди с катящимся контекстом → гейт качества → zod</a:t>
            </a:r>
            <a:endParaRPr lang="en-US" sz="1100" dirty="0"/>
          </a:p>
        </p:txBody>
      </p:sp>
      <p:sp>
        <p:nvSpPr>
          <p:cNvPr id="52" name="Shape 46"/>
          <p:cNvSpPr/>
          <p:nvPr/>
        </p:nvSpPr>
        <p:spPr>
          <a:xfrm>
            <a:off x="4343400" y="5212080"/>
            <a:ext cx="3474720" cy="123444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4526280" y="5413248"/>
            <a:ext cx="457200" cy="45720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5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5152" y="5532120"/>
            <a:ext cx="219456" cy="219456"/>
          </a:xfrm>
          <a:prstGeom prst="rect">
            <a:avLst/>
          </a:prstGeom>
        </p:spPr>
      </p:pic>
      <p:sp>
        <p:nvSpPr>
          <p:cNvPr id="55" name="Text 48"/>
          <p:cNvSpPr/>
          <p:nvPr/>
        </p:nvSpPr>
        <p:spPr>
          <a:xfrm>
            <a:off x="5120640" y="537667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Парсинг TXT/PDF/DOCX/PPTX</a:t>
            </a:r>
            <a:endParaRPr lang="en-US" sz="1350" dirty="0"/>
          </a:p>
        </p:txBody>
      </p:sp>
      <p:sp>
        <p:nvSpPr>
          <p:cNvPr id="56" name="Text 49"/>
          <p:cNvSpPr/>
          <p:nvPr/>
        </p:nvSpPr>
        <p:spPr>
          <a:xfrm>
            <a:off x="4572000" y="587044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pdf-parse · mammoth · jszip в памяти, guard 5 МБ + проверка magic-bytes</a:t>
            </a:r>
            <a:endParaRPr lang="en-US" sz="1100" dirty="0"/>
          </a:p>
        </p:txBody>
      </p:sp>
      <p:sp>
        <p:nvSpPr>
          <p:cNvPr id="57" name="Shape 50"/>
          <p:cNvSpPr/>
          <p:nvPr/>
        </p:nvSpPr>
        <p:spPr>
          <a:xfrm>
            <a:off x="8046720" y="5212080"/>
            <a:ext cx="3474720" cy="123444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58" name="Shape 51"/>
          <p:cNvSpPr/>
          <p:nvPr/>
        </p:nvSpPr>
        <p:spPr>
          <a:xfrm>
            <a:off x="8229600" y="5413248"/>
            <a:ext cx="457200" cy="45720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5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8472" y="5532120"/>
            <a:ext cx="219456" cy="219456"/>
          </a:xfrm>
          <a:prstGeom prst="rect">
            <a:avLst/>
          </a:prstGeom>
        </p:spPr>
      </p:pic>
      <p:sp>
        <p:nvSpPr>
          <p:cNvPr id="60" name="Text 52"/>
          <p:cNvSpPr/>
          <p:nvPr/>
        </p:nvSpPr>
        <p:spPr>
          <a:xfrm>
            <a:off x="8823960" y="537667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Хранение + безопасность</a:t>
            </a:r>
            <a:endParaRPr lang="en-US" sz="1350" dirty="0"/>
          </a:p>
        </p:txBody>
      </p:sp>
      <p:sp>
        <p:nvSpPr>
          <p:cNvPr id="61" name="Text 53"/>
          <p:cNvSpPr/>
          <p:nvPr/>
        </p:nvSpPr>
        <p:spPr>
          <a:xfrm>
            <a:off x="8275320" y="5870448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 10 генераций/день · изоляция WHERE user_id на каждом запросе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АРХИТЕКТУРА (СХЕМА)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Потоки данных: клиент ↔ сервер ↔ LLM ↔ БД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22860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788920"/>
            <a:ext cx="2286000" cy="91440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3017520"/>
            <a:ext cx="502920" cy="50292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439" y="3148279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3611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Браузер педагога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39319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 · редактор · экспорт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611880" y="1965960"/>
            <a:ext cx="4434840" cy="3977640"/>
          </a:xfrm>
          <a:prstGeom prst="rect">
            <a:avLst/>
          </a:prstGeom>
          <a:solidFill>
            <a:srgbClr val="0935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611880" y="2084832"/>
            <a:ext cx="4434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Next.js 15 — монолит (TypeScript)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840480" y="2560320"/>
            <a:ext cx="3977640" cy="9144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14" name="Shape 11"/>
          <p:cNvSpPr/>
          <p:nvPr/>
        </p:nvSpPr>
        <p:spPr>
          <a:xfrm>
            <a:off x="3840480" y="2560320"/>
            <a:ext cx="82296" cy="914400"/>
          </a:xfrm>
          <a:prstGeom prst="rect">
            <a:avLst/>
          </a:prstGeom>
          <a:solidFill>
            <a:srgbClr val="66D9A7"/>
          </a:solidFill>
          <a:ln/>
        </p:spPr>
      </p:sp>
      <p:sp>
        <p:nvSpPr>
          <p:cNvPr id="15" name="Text 12"/>
          <p:cNvSpPr/>
          <p:nvPr/>
        </p:nvSpPr>
        <p:spPr>
          <a:xfrm>
            <a:off x="4023360" y="267004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app/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023360" y="303580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лендинг · auth · кабинет · календарь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840480" y="3639312"/>
            <a:ext cx="3977640" cy="9144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18" name="Shape 15"/>
          <p:cNvSpPr/>
          <p:nvPr/>
        </p:nvSpPr>
        <p:spPr>
          <a:xfrm>
            <a:off x="3840480" y="3639312"/>
            <a:ext cx="82296" cy="914400"/>
          </a:xfrm>
          <a:prstGeom prst="rect">
            <a:avLst/>
          </a:prstGeom>
          <a:solidFill>
            <a:srgbClr val="66D9A7"/>
          </a:solidFill>
          <a:ln/>
        </p:spPr>
      </p:sp>
      <p:sp>
        <p:nvSpPr>
          <p:cNvPr id="19" name="Text 16"/>
          <p:cNvSpPr/>
          <p:nvPr/>
        </p:nvSpPr>
        <p:spPr>
          <a:xfrm>
            <a:off x="4023360" y="3749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api/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4023360" y="4114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(SSE) · upload · likes · search · export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840480" y="4718304"/>
            <a:ext cx="3977640" cy="9144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22" name="Shape 19"/>
          <p:cNvSpPr/>
          <p:nvPr/>
        </p:nvSpPr>
        <p:spPr>
          <a:xfrm>
            <a:off x="3840480" y="4718304"/>
            <a:ext cx="82296" cy="914400"/>
          </a:xfrm>
          <a:prstGeom prst="rect">
            <a:avLst/>
          </a:prstGeom>
          <a:solidFill>
            <a:srgbClr val="66D9A7"/>
          </a:solidFill>
          <a:ln/>
        </p:spPr>
      </p:sp>
      <p:sp>
        <p:nvSpPr>
          <p:cNvPr id="23" name="Text 20"/>
          <p:cNvSpPr/>
          <p:nvPr/>
        </p:nvSpPr>
        <p:spPr>
          <a:xfrm>
            <a:off x="4023360" y="48280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lib/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4023360" y="519379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gigachat · parse · pii · rag · prompt · export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98280" y="2194560"/>
            <a:ext cx="2423160" cy="1417320"/>
          </a:xfrm>
          <a:prstGeom prst="rect">
            <a:avLst/>
          </a:prstGeom>
          <a:solidFill>
            <a:srgbClr val="FFFFFF"/>
          </a:solidFill>
          <a:ln w="16510">
            <a:solidFill>
              <a:srgbClr val="21A66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326880" y="2395728"/>
            <a:ext cx="457200" cy="45720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5752" y="2514600"/>
            <a:ext cx="219456" cy="219456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9921240" y="239572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GigaChat API</a:t>
            </a:r>
            <a:endParaRPr lang="en-US" sz="1400" dirty="0"/>
          </a:p>
        </p:txBody>
      </p:sp>
      <p:sp>
        <p:nvSpPr>
          <p:cNvPr id="29" name="Text 25"/>
          <p:cNvSpPr/>
          <p:nvPr/>
        </p:nvSpPr>
        <p:spPr>
          <a:xfrm>
            <a:off x="9326880" y="2926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+ EmbeddingsGigaR (2560d) · внешний, локальных моделей нет</a:t>
            </a:r>
            <a:endParaRPr lang="en-US" sz="1050" dirty="0"/>
          </a:p>
        </p:txBody>
      </p:sp>
      <p:sp>
        <p:nvSpPr>
          <p:cNvPr id="30" name="Shape 26"/>
          <p:cNvSpPr/>
          <p:nvPr/>
        </p:nvSpPr>
        <p:spPr>
          <a:xfrm>
            <a:off x="9098280" y="4160520"/>
            <a:ext cx="2423160" cy="1417320"/>
          </a:xfrm>
          <a:prstGeom prst="rect">
            <a:avLst/>
          </a:prstGeom>
          <a:solidFill>
            <a:srgbClr val="FFFFFF"/>
          </a:solidFill>
          <a:ln w="16510">
            <a:solidFill>
              <a:srgbClr val="21A66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9326880" y="4361688"/>
            <a:ext cx="457200" cy="457200"/>
          </a:xfrm>
          <a:prstGeom prst="ellipse">
            <a:avLst/>
          </a:prstGeom>
          <a:solidFill>
            <a:srgbClr val="21A663"/>
          </a:solidFill>
          <a:ln/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752" y="4480560"/>
            <a:ext cx="219456" cy="219456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9921240" y="436168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 16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9326880" y="489204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pgvector · сценарии · планы · календарь · RAG · лайки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2926080" y="3520440"/>
            <a:ext cx="685800" cy="0"/>
          </a:xfrm>
          <a:prstGeom prst="line">
            <a:avLst/>
          </a:prstGeom>
          <a:noFill/>
          <a:ln w="25400">
            <a:solidFill>
              <a:srgbClr val="21A663"/>
            </a:solidFill>
            <a:prstDash val="solid"/>
            <a:headEnd type="triangle"/>
            <a:tailEnd type="triangle"/>
          </a:ln>
        </p:spPr>
      </p:sp>
      <p:sp>
        <p:nvSpPr>
          <p:cNvPr id="36" name="Text 31"/>
          <p:cNvSpPr/>
          <p:nvPr/>
        </p:nvSpPr>
        <p:spPr>
          <a:xfrm>
            <a:off x="2788920" y="3154680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/ SSE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8046720" y="2880360"/>
            <a:ext cx="1051560" cy="0"/>
          </a:xfrm>
          <a:prstGeom prst="line">
            <a:avLst/>
          </a:prstGeom>
          <a:noFill/>
          <a:ln w="25400">
            <a:solidFill>
              <a:srgbClr val="21A663"/>
            </a:solidFill>
            <a:prstDash val="solid"/>
            <a:headEnd type="triangle"/>
            <a:tailEnd type="triangle"/>
          </a:ln>
        </p:spPr>
      </p:sp>
      <p:sp>
        <p:nvSpPr>
          <p:cNvPr id="38" name="Text 33"/>
          <p:cNvSpPr/>
          <p:nvPr/>
        </p:nvSpPr>
        <p:spPr>
          <a:xfrm>
            <a:off x="7818120" y="254203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промпты / эмбеддинги</a:t>
            </a:r>
            <a:endParaRPr lang="en-US" sz="850" dirty="0"/>
          </a:p>
        </p:txBody>
      </p:sp>
      <p:sp>
        <p:nvSpPr>
          <p:cNvPr id="39" name="Shape 34"/>
          <p:cNvSpPr/>
          <p:nvPr/>
        </p:nvSpPr>
        <p:spPr>
          <a:xfrm>
            <a:off x="8046720" y="4846320"/>
            <a:ext cx="1051560" cy="0"/>
          </a:xfrm>
          <a:prstGeom prst="line">
            <a:avLst/>
          </a:prstGeom>
          <a:noFill/>
          <a:ln w="25400">
            <a:solidFill>
              <a:srgbClr val="21A663"/>
            </a:solidFill>
            <a:prstDash val="solid"/>
            <a:headEnd type="triangle"/>
            <a:tailEnd type="triangle"/>
          </a:ln>
        </p:spPr>
      </p:sp>
      <p:sp>
        <p:nvSpPr>
          <p:cNvPr id="40" name="Text 35"/>
          <p:cNvSpPr/>
          <p:nvPr/>
        </p:nvSpPr>
        <p:spPr>
          <a:xfrm>
            <a:off x="7818120" y="449884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(WHERE user_id)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solidFill>
            <a:srgbClr val="F8F9F7"/>
          </a:solidFill>
          <a:ln w="12700">
            <a:solidFill>
              <a:srgbClr val="21A663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868680" y="61264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Защита: </a:t>
            </a:r>
            <a:pPr indent="0" marL="0">
              <a:buNone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PII-анонимизация ДО любого вызова GigaChat · rate-limit на пользователя · строгая изоляция данных по user_id · TLS-сертификаты Минцифры РФ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ПАЙПЛАЙН ГЕНЕРАЦИИ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Как рождается сценарий: генерация по блокам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881360" cy="749808"/>
          </a:xfrm>
          <a:prstGeom prst="rect">
            <a:avLst/>
          </a:prstGeom>
          <a:solidFill>
            <a:srgbClr val="0935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737360"/>
            <a:ext cx="104241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Инсайт: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«насыщает» ~800 токенов за один вызов — один запрос даёт «простыню» ~5 КБ. </a:t>
            </a:r>
            <a:pPr indent="0" marL="0">
              <a:buNone/>
            </a:pPr>
            <a:r>
              <a:rPr lang="en-US" sz="12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Методичка «Разговоры о важном» = 9–11 плотных блоков. Значит генерируем ПО ОДНОМУ БЛОКУ за вызов — объём масштабируется числом блоков, а не «уговорами» модели.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724912"/>
            <a:ext cx="260604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2724912"/>
            <a:ext cx="2606040" cy="109728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2999232"/>
            <a:ext cx="502920" cy="50292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3129991"/>
            <a:ext cx="241402" cy="24140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17320" y="2962656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· Каркас + контент-план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68680" y="3639312"/>
            <a:ext cx="21945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Цели, ценности, основные смыслы и список блоков {тип · фокус} по этапам. Смыслы заранее распределены — без повторов.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246120" y="36118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3429000" y="2724912"/>
            <a:ext cx="260604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429000" y="2724912"/>
            <a:ext cx="2606040" cy="109728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16" name="Shape 13"/>
          <p:cNvSpPr/>
          <p:nvPr/>
        </p:nvSpPr>
        <p:spPr>
          <a:xfrm>
            <a:off x="3611880" y="2999232"/>
            <a:ext cx="502920" cy="50292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2639" y="3129991"/>
            <a:ext cx="241402" cy="24140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206240" y="2962656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· Блоки по очереди (×N)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3657600" y="3639312"/>
            <a:ext cx="21945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блок — отдельный фокусный вызов с RAG-опорой. В следующий вызов передаём сводку готовых блоков — связность и преемственность хода.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6035040" y="36118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6217920" y="2724912"/>
            <a:ext cx="260604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217920" y="2724912"/>
            <a:ext cx="2606040" cy="109728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23" name="Shape 19"/>
          <p:cNvSpPr/>
          <p:nvPr/>
        </p:nvSpPr>
        <p:spPr>
          <a:xfrm>
            <a:off x="6400800" y="2999232"/>
            <a:ext cx="502920" cy="50292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559" y="3129991"/>
            <a:ext cx="241402" cy="24140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995160" y="2962656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· Гейт качества (без ИИ)</a:t>
            </a:r>
            <a:endParaRPr lang="en-US" sz="1250" dirty="0"/>
          </a:p>
        </p:txBody>
      </p:sp>
      <p:sp>
        <p:nvSpPr>
          <p:cNvPr id="26" name="Text 21"/>
          <p:cNvSpPr/>
          <p:nvPr/>
        </p:nvSpPr>
        <p:spPr>
          <a:xfrm>
            <a:off x="6446520" y="3639312"/>
            <a:ext cx="21945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длины, многоходовости «Учитель: …», числа вопросов. Тонкий блок автоматически переписывается.</a:t>
            </a:r>
            <a:endParaRPr lang="en-US" sz="1100" dirty="0"/>
          </a:p>
        </p:txBody>
      </p:sp>
      <p:sp>
        <p:nvSpPr>
          <p:cNvPr id="27" name="Text 22"/>
          <p:cNvSpPr/>
          <p:nvPr/>
        </p:nvSpPr>
        <p:spPr>
          <a:xfrm>
            <a:off x="8823960" y="36118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Shape 23"/>
          <p:cNvSpPr/>
          <p:nvPr/>
        </p:nvSpPr>
        <p:spPr>
          <a:xfrm>
            <a:off x="9006840" y="2724912"/>
            <a:ext cx="2606040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9006840" y="2724912"/>
            <a:ext cx="2606040" cy="109728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30" name="Shape 25"/>
          <p:cNvSpPr/>
          <p:nvPr/>
        </p:nvSpPr>
        <p:spPr>
          <a:xfrm>
            <a:off x="9189720" y="2999232"/>
            <a:ext cx="502920" cy="50292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0479" y="3129991"/>
            <a:ext cx="241402" cy="241402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9784080" y="2962656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· Сборка и сохранение</a:t>
            </a:r>
            <a:endParaRPr lang="en-US" sz="1250" dirty="0"/>
          </a:p>
        </p:txBody>
      </p:sp>
      <p:sp>
        <p:nvSpPr>
          <p:cNvPr id="33" name="Text 27"/>
          <p:cNvSpPr/>
          <p:nvPr/>
        </p:nvSpPr>
        <p:spPr>
          <a:xfrm>
            <a:off x="9235440" y="3639312"/>
            <a:ext cx="21945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Соединение блоков → нормализация хронометража → zod-валидация → запись с изоляцией по user_id.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640080" y="5074920"/>
            <a:ext cx="3474720" cy="128016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868680" y="5138928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A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14,6 КБ</a:t>
            </a:r>
            <a:endParaRPr lang="en-US" sz="2700" dirty="0"/>
          </a:p>
        </p:txBody>
      </p:sp>
      <p:sp>
        <p:nvSpPr>
          <p:cNvPr id="36" name="Text 30"/>
          <p:cNvSpPr/>
          <p:nvPr/>
        </p:nvSpPr>
        <p:spPr>
          <a:xfrm>
            <a:off x="868680" y="5742432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объём сценария — ≈ в 3 раза больше прежнего (~5 КБ)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4343400" y="5074920"/>
            <a:ext cx="3474720" cy="128016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4572000" y="5138928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A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РоВ-уровень</a:t>
            </a:r>
            <a:endParaRPr lang="en-US" sz="2200" dirty="0"/>
          </a:p>
        </p:txBody>
      </p:sp>
      <p:sp>
        <p:nvSpPr>
          <p:cNvPr id="39" name="Text 33"/>
          <p:cNvSpPr/>
          <p:nvPr/>
        </p:nvSpPr>
        <p:spPr>
          <a:xfrm>
            <a:off x="4572000" y="5742432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многоходовой ход «Учитель: …» с конкретикой и вопросами</a:t>
            </a:r>
            <a:endParaRPr lang="en-US" sz="1150" dirty="0"/>
          </a:p>
        </p:txBody>
      </p:sp>
      <p:sp>
        <p:nvSpPr>
          <p:cNvPr id="40" name="Shape 34"/>
          <p:cNvSpPr/>
          <p:nvPr/>
        </p:nvSpPr>
        <p:spPr>
          <a:xfrm>
            <a:off x="8046720" y="5074920"/>
            <a:ext cx="3474720" cy="128016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8275320" y="5138928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1A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~45 сек</a:t>
            </a:r>
            <a:endParaRPr lang="en-US" sz="2700" dirty="0"/>
          </a:p>
        </p:txBody>
      </p:sp>
      <p:sp>
        <p:nvSpPr>
          <p:cNvPr id="42" name="Text 36"/>
          <p:cNvSpPr/>
          <p:nvPr/>
        </p:nvSpPr>
        <p:spPr>
          <a:xfrm>
            <a:off x="8275320" y="5742432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живой замер на GigaChat · 0 «тонких» блоков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MVP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Рабочая версия: полный путь без заглушек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Демо-путь (скриншоты вставить в финал)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5212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532888"/>
            <a:ext cx="384048" cy="384048"/>
          </a:xfrm>
          <a:prstGeom prst="ellipse">
            <a:avLst/>
          </a:prstGeom>
          <a:solidFill>
            <a:srgbClr val="21A663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328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2286000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 контекста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310896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A663"/>
                </a:solidFill>
              </a:rPr>
              <a:t>↓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310128"/>
            <a:ext cx="5212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2960" y="3557016"/>
            <a:ext cx="384048" cy="384048"/>
          </a:xfrm>
          <a:prstGeom prst="ellipse">
            <a:avLst/>
          </a:prstGeom>
          <a:solidFill>
            <a:srgbClr val="21A663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5570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3310128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Стрим генерации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4133088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A663"/>
                </a:solidFill>
              </a:rPr>
              <a:t>↓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334256"/>
            <a:ext cx="5212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4581144"/>
            <a:ext cx="384048" cy="384048"/>
          </a:xfrm>
          <a:prstGeom prst="ellipse">
            <a:avLst/>
          </a:prstGeom>
          <a:solidFill>
            <a:srgbClr val="21A663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58114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71600" y="4334256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Блочный редактор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157216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A663"/>
                </a:solidFill>
              </a:rPr>
              <a:t>↓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358384"/>
            <a:ext cx="52120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22960" y="5605272"/>
            <a:ext cx="384048" cy="384048"/>
          </a:xfrm>
          <a:prstGeom prst="ellipse">
            <a:avLst/>
          </a:prstGeom>
          <a:solidFill>
            <a:srgbClr val="21A663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56052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5358384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Экспорт PDF / DOCX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126480" y="1874520"/>
            <a:ext cx="53949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355080" y="20116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A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уже работает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00800" y="2468880"/>
            <a:ext cx="50292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по блокам РоВ-уровня во всех 8 форматах (классный час, квиз, дебаты, киноклуб, проектная сессия…)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 плана и своего материала (PDF/DOCX/PPTX/TXT) как основы сценария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Редактор: добавление/удаление и reorder этапов ↑/↓, точечная регенерация с выбором типа, история версий с откатом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Полноэкранный режим показа на проекторе + календарь-сетка с привязкой к дате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Библиотека сообщества + семантический поиск, оценка сценария 👍/👎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Фирменный экспорт PDF (с QR) и DOCX · шаринг по ссылке · страница «Что нового»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✓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Админ-панель статистики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26480" y="4617720"/>
            <a:ext cx="2606040" cy="1783080"/>
          </a:xfrm>
          <a:prstGeom prst="rect">
            <a:avLst/>
          </a:prstGeom>
          <a:solidFill>
            <a:srgbClr val="0935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0936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Ресурсы MVP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55080" y="516636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VPS · 2 vCPU / 4 ГБ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GigaChat API (PERS)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Дёшево в эксплуатации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915400" y="4617720"/>
            <a:ext cx="2606040" cy="1783080"/>
          </a:xfrm>
          <a:prstGeom prst="rect">
            <a:avLst/>
          </a:prstGeom>
          <a:solidFill>
            <a:srgbClr val="F8F9F7"/>
          </a:solidFill>
          <a:ln w="16510">
            <a:solidFill>
              <a:srgbClr val="21A66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09828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A6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Развитие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144000" y="516636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 с эл. журналами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контента методистами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Мульти-школьные тенанты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вовлечённости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— ДОРОЖНАЯ КАРТА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 MVP к масштабу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914400" y="2468880"/>
            <a:ext cx="10332720" cy="0"/>
          </a:xfrm>
          <a:prstGeom prst="line">
            <a:avLst/>
          </a:prstGeom>
          <a:noFill/>
          <a:ln w="25400">
            <a:solidFill>
              <a:srgbClr val="E4E6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286000"/>
            <a:ext cx="365760" cy="365760"/>
          </a:xfrm>
          <a:prstGeom prst="ellipse">
            <a:avLst/>
          </a:prstGeom>
          <a:solidFill>
            <a:srgbClr val="21A663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86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926080"/>
            <a:ext cx="26060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926080"/>
            <a:ext cx="2606040" cy="109728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3127248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Развёрнуто на проде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365760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+ RAG-корпус методичек РоВ · домен plan-wise.ru + HTTPS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· библиотека наполнена · порог откалиброван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46120" y="393192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749040" y="2286000"/>
            <a:ext cx="365760" cy="365760"/>
          </a:xfrm>
          <a:prstGeom prst="ellipse">
            <a:avLst/>
          </a:prstGeom>
          <a:solidFill>
            <a:srgbClr val="F5B800"/>
          </a:solidFill>
          <a:ln/>
        </p:spPr>
      </p:sp>
      <p:sp>
        <p:nvSpPr>
          <p:cNvPr id="14" name="Text 12"/>
          <p:cNvSpPr/>
          <p:nvPr/>
        </p:nvSpPr>
        <p:spPr>
          <a:xfrm>
            <a:off x="3749040" y="2286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429000" y="2926080"/>
            <a:ext cx="26060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429000" y="2926080"/>
            <a:ext cx="2606040" cy="109728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17" name="Text 15"/>
          <p:cNvSpPr/>
          <p:nvPr/>
        </p:nvSpPr>
        <p:spPr>
          <a:xfrm>
            <a:off x="3630168" y="3127248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Перед демо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657600" y="365760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Живой UAT golden-path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Скринкаст 5–7 мин + презентация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0" y="393192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537960" y="2286000"/>
            <a:ext cx="365760" cy="365760"/>
          </a:xfrm>
          <a:prstGeom prst="ellipse">
            <a:avLst/>
          </a:prstGeom>
          <a:solidFill>
            <a:srgbClr val="2741E0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2286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2926080"/>
            <a:ext cx="26060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2926080"/>
            <a:ext cx="2606040" cy="109728"/>
          </a:xfrm>
          <a:prstGeom prst="rect">
            <a:avLst/>
          </a:prstGeom>
          <a:solidFill>
            <a:srgbClr val="2741E0"/>
          </a:solidFill>
          <a:ln/>
        </p:spPr>
      </p:sp>
      <p:sp>
        <p:nvSpPr>
          <p:cNvPr id="24" name="Text 22"/>
          <p:cNvSpPr/>
          <p:nvPr/>
        </p:nvSpPr>
        <p:spPr>
          <a:xfrm>
            <a:off x="6419088" y="3127248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Пилот в школе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46520" y="365760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Обкатка с реальными классными руководителями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контента методистами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823960" y="393192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A663"/>
                </a:solidFill>
              </a:rPr>
              <a:t>→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326880" y="2286000"/>
            <a:ext cx="365760" cy="365760"/>
          </a:xfrm>
          <a:prstGeom prst="ellipse">
            <a:avLst/>
          </a:prstGeom>
          <a:solidFill>
            <a:srgbClr val="093520"/>
          </a:solidFill>
          <a:ln/>
        </p:spPr>
      </p:sp>
      <p:sp>
        <p:nvSpPr>
          <p:cNvPr id="28" name="Text 26"/>
          <p:cNvSpPr/>
          <p:nvPr/>
        </p:nvSpPr>
        <p:spPr>
          <a:xfrm>
            <a:off x="9326880" y="2286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006840" y="2926080"/>
            <a:ext cx="26060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006840" y="2926080"/>
            <a:ext cx="2606040" cy="109728"/>
          </a:xfrm>
          <a:prstGeom prst="rect">
            <a:avLst/>
          </a:prstGeom>
          <a:solidFill>
            <a:srgbClr val="093520"/>
          </a:solidFill>
          <a:ln/>
        </p:spPr>
      </p:sp>
      <p:sp>
        <p:nvSpPr>
          <p:cNvPr id="31" name="Text 29"/>
          <p:cNvSpPr/>
          <p:nvPr/>
        </p:nvSpPr>
        <p:spPr>
          <a:xfrm>
            <a:off x="9208008" y="3127248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Масштаб B2B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235440" y="3657600"/>
            <a:ext cx="2194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Подписка для школ и управлений образования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 с журналами · аналитика воспитания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Сейчас здесь →  MVP полностью реализован, идём к пилоту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— РИСКИ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Риски и их нейтрализация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8813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035040"/>
                <a:gridCol w="1463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Риск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Нейтрализация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Статус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352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Утечка ПДн детей во внешний LLM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Локальная авто-анонимизация (regex + словари), явное согласие с логированием, повторный PII-чек перед шарингом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LLM выдаёт некорректный / неструктурный контент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Двухэтапный промпт, zod-валидация, repair-pass, авто-нормализация хронометража, RAG-опора на методички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Зависимость от GigaChat (доступность, лимиты)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Rate-limit, retry + refresh токена, кэш; библиотека сообщества снижает число генераций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Нагрузка на 4 ГБ RAM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Запрет локальных моделей, @react-pdf вместо headless Chrome, стриминг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Качество подбора похожих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Порог откалиброван (0.72) на наполненной библиотеке + RAG-корпус методичек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Доверие педагогов к ИИ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Человек в петле: полный редактор + версии + контроль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60F"/>
                          </a:solidFill>
                        </a:rPr>
                        <a:t>Безопасность прод-инфры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717670"/>
                          </a:solidFill>
                        </a:rPr>
                        <a:t>Docker Compose, nginx + HTTPS (Let's Encrypt), ufw, bind 127.0.0.1, ротация секретов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A663"/>
                          </a:solidFill>
                        </a:rPr>
                        <a:t>реализовано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935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Shape 1"/>
          <p:cNvSpPr/>
          <p:nvPr/>
        </p:nvSpPr>
        <p:spPr>
          <a:xfrm>
            <a:off x="310896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БИЗНЕС-ЭФФЕКТ И МОДЕЛЬ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10896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Почему это растёт само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16002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10312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2 ч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экономии на каждом сценарии — время педагога возвращается детям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965960"/>
            <a:ext cx="3474720" cy="16002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210312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~40 тыс.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572000" y="283464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школ РФ; «Разговоры о важном» — еженедельный обязательный формат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965960"/>
            <a:ext cx="3474720" cy="160020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13" name="Text 11"/>
          <p:cNvSpPr/>
          <p:nvPr/>
        </p:nvSpPr>
        <p:spPr>
          <a:xfrm>
            <a:off x="8275320" y="210312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B8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network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75320" y="283464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эффект: больше лайков → богаче библиотека → точнее RAG → выше ценность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384048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Модель монетизации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297680"/>
            <a:ext cx="3474720" cy="1234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297680"/>
            <a:ext cx="3474720" cy="91440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434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 — педагог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489204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лимит генераций в день, базовый функционал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43400" y="4297680"/>
            <a:ext cx="3474720" cy="1234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343400" y="4297680"/>
            <a:ext cx="3474720" cy="91440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0" y="4434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Школа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0" y="489204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лимита, библиотека, статистика, модерация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46720" y="4297680"/>
            <a:ext cx="3474720" cy="1234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8046720" y="4297680"/>
            <a:ext cx="3474720" cy="91440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26" name="Text 24"/>
          <p:cNvSpPr/>
          <p:nvPr/>
        </p:nvSpPr>
        <p:spPr>
          <a:xfrm>
            <a:off x="8275320" y="4434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Управление образования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275320" y="489204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мульти-школа, аналитика по направлениям воспитания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0080" y="58064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6D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успеха: число сгенерированных сценариев · % дошедших до экспорта · доля переиспользования из библиотеки · retention педагогов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ДОПОЛНИТЕЛЬНО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Чем ещё хочется поделиться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34924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20240"/>
            <a:ext cx="5349240" cy="109728"/>
          </a:xfrm>
          <a:prstGeom prst="rect">
            <a:avLst/>
          </a:prstGeom>
          <a:solidFill>
            <a:srgbClr val="21A663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2194560"/>
            <a:ext cx="548640" cy="54864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326" y="2337206"/>
            <a:ext cx="263347" cy="26334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219456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Суверенность данных и развёртывание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2926080"/>
            <a:ext cx="48920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— БД, миграции и приложение одной командой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Переключаемая через env LLM (LLM_PROVIDER): GigaChat или локальная / OpenAI-совместимая (Ollama, LM Studio, vLLM)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детей могут не покидать контур школы — модель поднимается на своём железе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к GigaChat через вшитые сертификаты Минцифры РФ — без обхода проверки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14400" y="580644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Публичный репозиторий: </a:t>
            </a:r>
            <a:pPr indent="0" marL="0">
              <a:buNone/>
            </a:pPr>
            <a:r>
              <a:rPr lang="en-US" sz="1200" b="1" i="1" u="sng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github.com/Caspernik-dev/planwise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72200" y="1920240"/>
            <a:ext cx="534924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172200" y="1920240"/>
            <a:ext cx="5349240" cy="109728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14" name="Shape 11"/>
          <p:cNvSpPr/>
          <p:nvPr/>
        </p:nvSpPr>
        <p:spPr>
          <a:xfrm>
            <a:off x="6400800" y="2194560"/>
            <a:ext cx="548640" cy="548640"/>
          </a:xfrm>
          <a:prstGeom prst="ellipse">
            <a:avLst/>
          </a:prstGeom>
          <a:solidFill>
            <a:srgbClr val="093520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446" y="2337206"/>
            <a:ext cx="263347" cy="26334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086600" y="219456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Уроки и инсайты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6446520" y="2926080"/>
            <a:ext cx="48920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по блокам дала объём ×3 (≈15 КБ, РоВ-уровень) — масштаб числом блоков, а не «уговорами» модели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качества без LLM-судьи: детерминированные проверки длины, многоходовости «Учитель: …» и числа вопросов — LLM-судья оказался ненадёжным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B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урок: статика и моки не ловят баги живой модели (пустой adaptations, формат «дебаты») — обязателен живой прогон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10896" cy="310896"/>
          </a:xfrm>
          <a:prstGeom prst="rect">
            <a:avLst/>
          </a:prstGeom>
          <a:solidFill>
            <a:srgbClr val="F5B800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457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ЧТО ДАЛЬШЕ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6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 работе и в дорожной карте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Конкретные доработки из бэклога — что уже в работе и в ближайших спринтах после MVP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94560"/>
            <a:ext cx="352044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194560"/>
            <a:ext cx="3520440" cy="777240"/>
          </a:xfrm>
          <a:prstGeom prst="rect">
            <a:avLst/>
          </a:prstGeom>
          <a:solidFill>
            <a:srgbClr val="093520"/>
          </a:solidFill>
          <a:ln/>
        </p:spPr>
      </p:sp>
      <p:sp>
        <p:nvSpPr>
          <p:cNvPr id="8" name="Shape 6"/>
          <p:cNvSpPr/>
          <p:nvPr/>
        </p:nvSpPr>
        <p:spPr>
          <a:xfrm>
            <a:off x="841248" y="2304288"/>
            <a:ext cx="548640" cy="548640"/>
          </a:xfrm>
          <a:prstGeom prst="ellipse">
            <a:avLst/>
          </a:prstGeom>
          <a:solidFill>
            <a:srgbClr val="F5B800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" y="2446934"/>
            <a:ext cx="263347" cy="26334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08760" y="2212848"/>
            <a:ext cx="2560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Продукт для учителя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68680" y="3108960"/>
            <a:ext cx="3108960" cy="3154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Кастомные инструкции — «стиль учителя» (тон, игровость, ОВЗ)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сценария под другой класс / длительность одной кнопкой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Предпросмотр документа перед экспортом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Режим проведения с телефона + потоковый текст блока в реальном времени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 плана картинкой (OCR) — фото с телефона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43400" y="2194560"/>
            <a:ext cx="352044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2194560"/>
            <a:ext cx="3520440" cy="777240"/>
          </a:xfrm>
          <a:prstGeom prst="rect">
            <a:avLst/>
          </a:prstGeom>
          <a:solidFill>
            <a:srgbClr val="0E4F30"/>
          </a:solidFill>
          <a:ln/>
        </p:spPr>
      </p:sp>
      <p:sp>
        <p:nvSpPr>
          <p:cNvPr id="14" name="Shape 11"/>
          <p:cNvSpPr/>
          <p:nvPr/>
        </p:nvSpPr>
        <p:spPr>
          <a:xfrm>
            <a:off x="4544568" y="2304288"/>
            <a:ext cx="548640" cy="548640"/>
          </a:xfrm>
          <a:prstGeom prst="ellipse">
            <a:avLst/>
          </a:prstGeom>
          <a:solidFill>
            <a:srgbClr val="F5B800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7214" y="2446934"/>
            <a:ext cx="263347" cy="26334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212080" y="2212848"/>
            <a:ext cx="2560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Сообщество и обнаруживаемость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572000" y="3108960"/>
            <a:ext cx="3108960" cy="3154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Комментарии и отзывы коллег под сценариями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Теги и «топ недели» в библиотеке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Модерация: «сообщить о проблеме» → admin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Личная аналитика педагога: сценарии, направления, динамика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Опц. публичные профили учителей (opt-in, репутация)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8046720" y="2194560"/>
            <a:ext cx="352044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046720" y="2194560"/>
            <a:ext cx="3520440" cy="777240"/>
          </a:xfrm>
          <a:prstGeom prst="rect">
            <a:avLst/>
          </a:prstGeom>
          <a:solidFill>
            <a:srgbClr val="093520"/>
          </a:solidFill>
          <a:ln/>
        </p:spPr>
      </p:sp>
      <p:sp>
        <p:nvSpPr>
          <p:cNvPr id="20" name="Shape 16"/>
          <p:cNvSpPr/>
          <p:nvPr/>
        </p:nvSpPr>
        <p:spPr>
          <a:xfrm>
            <a:off x="8247888" y="2304288"/>
            <a:ext cx="548640" cy="548640"/>
          </a:xfrm>
          <a:prstGeom prst="ellipse">
            <a:avLst/>
          </a:prstGeom>
          <a:solidFill>
            <a:srgbClr val="F5B800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0534" y="2446934"/>
            <a:ext cx="263347" cy="263347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915400" y="2212848"/>
            <a:ext cx="2560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Масштаб и качество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8275320" y="3108960"/>
            <a:ext cx="3108960" cy="3154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Очередь + семафор к GigaChat — под рост тарифной концурентности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Дашборд качества генерации (тонкие блоки, предупреждения)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эмбеддингов популярных тем — экономия токенов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 завучу: XLSX-выгрузка по проведённым занятиям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1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Атомарный rate-limit + worker-thread для PDF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640080" y="6446520"/>
            <a:ext cx="10881360" cy="292608"/>
          </a:xfrm>
          <a:prstGeom prst="rect">
            <a:avLst/>
          </a:prstGeom>
          <a:solidFill>
            <a:srgbClr val="F8F9F7"/>
          </a:solidFill>
          <a:ln w="12700">
            <a:solidFill>
              <a:srgbClr val="21A663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68680" y="64465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21A6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бэклог: </a:t>
            </a:r>
            <a:pPr indent="0" marL="0">
              <a:buNone/>
            </a:pPr>
            <a:r>
              <a:rPr lang="en-US" sz="1100" i="1" dirty="0">
                <a:solidFill>
                  <a:srgbClr val="7176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docs/backlog.md в репозитории — приоритеты, оценки объёма и связи между задачами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Planwise — Классный час</dc:title>
  <dc:subject>PptxGenJS Presentation</dc:subject>
  <dc:creator>Planwise team</dc:creator>
  <cp:lastModifiedBy>Planwise team</cp:lastModifiedBy>
  <cp:revision>1</cp:revision>
  <dcterms:created xsi:type="dcterms:W3CDTF">2026-05-28T08:18:00Z</dcterms:created>
  <dcterms:modified xsi:type="dcterms:W3CDTF">2026-05-28T08:18:00Z</dcterms:modified>
</cp:coreProperties>
</file>