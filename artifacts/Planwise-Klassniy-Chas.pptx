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n-wise.ru" TargetMode="External"/><Relationship Id="rId2" Type="http://schemas.openxmlformats.org/officeDocument/2006/relationships/hyperlink" Target="https://github.com/Caspernik-dev/planwis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PLANWISE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«Классный час»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ИИ-генератор сценариев внеурочных занятий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методический сценарий за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минуты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вместо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часов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ручной подготовки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GigaChat • опора на методички «Разговоры о важном» • защита персональных данных детей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5 • Хакатон 2026 • живое демо: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plan-wise.ru</a:t>
            </a:r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код: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КОМАНДА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и зоны ответственности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/ Research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исследование, интервью с классными руководителями, приоритизация сценариев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5696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2" name="Text 10"/>
          <p:cNvSpPr/>
          <p:nvPr/>
        </p:nvSpPr>
        <p:spPr>
          <a:xfrm>
            <a:off x="4700016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/ LLM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0016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GigaChat, промпт-инжиниринг, стриминг генерации, серверная логика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00016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11312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11312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/ RAG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 «Разговоров о важном», эмбеддинги, гибридный поиск, библиотека сообщества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85632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reynalds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/ UX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педагога, блочный редактор, календарь, экспорт PDF/DOCX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25696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25696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5"/>
          <p:cNvSpPr/>
          <p:nvPr/>
        </p:nvSpPr>
        <p:spPr>
          <a:xfrm>
            <a:off x="4700016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DevOps / Security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700016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Развёртывание, изоляция данных, rate-limit, анонимизация ПДн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00016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11312" y="4160520"/>
            <a:ext cx="3529584" cy="868680"/>
          </a:xfrm>
          <a:prstGeom prst="rect">
            <a:avLst/>
          </a:prstGeom>
          <a:solidFill>
            <a:srgbClr val="F8F9F7"/>
          </a:solidFill>
          <a:ln w="15240">
            <a:solidFill>
              <a:srgbClr val="21A6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251960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исследование: </a:t>
            </a:r>
            <a:pPr indent="0" marL="0">
              <a:buNone/>
            </a:pPr>
            <a:r>
              <a:rPr lang="en-US" sz="12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выявлены трудозатраты, типовые форматы и приоритетные сценарии.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1312" y="5166360"/>
            <a:ext cx="3529584" cy="14630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9912" y="5303520"/>
            <a:ext cx="30723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Planwise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39912" y="57790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Никита Феоктистов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(delpdelv)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439912" y="61722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Данияр Хабибуллин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(reynalds)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ПРОБЛЕМА И ПОЛЬЗОВАТЕЛИ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часа на каждый сценарий → выгорание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3609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2402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пользователь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29718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руководитель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Советник по воспитанию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Педагог-организатор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4754880" cy="0"/>
          </a:xfrm>
          <a:prstGeom prst="line">
            <a:avLst/>
          </a:prstGeom>
          <a:noFill/>
          <a:ln w="12700">
            <a:solidFill>
              <a:srgbClr val="E4E6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столкновения с проблемой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«Вечер воскресенья. Завтра классный час по патриотическому направлению для 7 класса. Методичек много, времени нет — нужен вовлекающий сценарий с хронометражем и вопросами, а не реферат».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55080" y="1965960"/>
            <a:ext cx="5166360" cy="187452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37960" y="21031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6537960" y="29718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подготовку одного сценария вручную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98280" y="2240280"/>
            <a:ext cx="0" cy="1280160"/>
          </a:xfrm>
          <a:prstGeom prst="line">
            <a:avLst/>
          </a:prstGeom>
          <a:noFill/>
          <a:ln w="19050">
            <a:solidFill>
              <a:srgbClr val="0E4F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81160" y="21031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9281160" y="29718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занятий за четверть = десятки часов рутины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55080" y="3977640"/>
            <a:ext cx="5166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мешает сегодня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629400" y="461772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Методички разрознены, единого источника нет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Голый ChatGPT/GigaChat даёт «простыню» без хронометража и воспитательных результатов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загружать данные детей в чужой ИИ — риск утечки ПДн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РЕШЕНИЕ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Методический инструмент, а не обёртка над ИИ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Задал контекст </a:t>
            </a:r>
            <a:pPr indent="0" marL="0">
              <a:buNone/>
            </a:pPr>
            <a:r>
              <a:rPr lang="en-US" sz="1500" b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(направление · класс · тема · формат · длительность)</a:t>
            </a:r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ИИ собрал сценарий с опорой на методички  →  отредактировал  →  выгрузил в PDF/DOCX.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61792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 темы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261792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школы — система сама предложит следующую незакрытую тему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359" y="26179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поводов или библиотека сообщества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10881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Возможность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Голый ChatGPT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Методички PDF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Planwise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Структура: этапы + хронометраж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статично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Воспитательные результаты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Опора на «Разговоры о важном»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ищи сам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1A663"/>
                          </a:solidFill>
                        </a:rPr>
                        <a:t>✓ RAG авто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Загрузка плана + следующая тема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Свой материал как основа сценария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вручную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Защита ПДн детей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07800"/>
                          </a:solidFill>
                        </a:rPr>
                        <a:t>утекают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Редактор + фирменный PDF / DOCX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Библиотека сообщества + шаринг по ссылке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ТЕХНИЧЕСКАЯ РЕАЛИЗАЦИЯ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2640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(монолит)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Actions, Route Handlers, TypeScript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4340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456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26405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(внешний API)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7200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(2560d). Локальные модели запрещены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81812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04672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264054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6112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 + pgvector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7532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· планы · календарь · RAG-корпус · лайки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Пайплайн генерации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40080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4" name="Text 19"/>
          <p:cNvSpPr/>
          <p:nvPr/>
        </p:nvSpPr>
        <p:spPr>
          <a:xfrm>
            <a:off x="64008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7665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2013966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2"/>
          <p:cNvSpPr/>
          <p:nvPr/>
        </p:nvSpPr>
        <p:spPr>
          <a:xfrm>
            <a:off x="201396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205054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Анонимизация ПДн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338785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0" name="Text 25"/>
          <p:cNvSpPr/>
          <p:nvPr/>
        </p:nvSpPr>
        <p:spPr>
          <a:xfrm>
            <a:off x="338785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342442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Pre-match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761738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3" name="Text 28"/>
          <p:cNvSpPr/>
          <p:nvPr/>
        </p:nvSpPr>
        <p:spPr>
          <a:xfrm>
            <a:off x="4761738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4798314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RAG-поиск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135624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6" name="Text 31"/>
          <p:cNvSpPr/>
          <p:nvPr/>
        </p:nvSpPr>
        <p:spPr>
          <a:xfrm>
            <a:off x="6135624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72200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+ план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7509510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9" name="Text 34"/>
          <p:cNvSpPr/>
          <p:nvPr/>
        </p:nvSpPr>
        <p:spPr>
          <a:xfrm>
            <a:off x="750951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754608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×N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8883396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2" name="Text 37"/>
          <p:cNvSpPr/>
          <p:nvPr/>
        </p:nvSpPr>
        <p:spPr>
          <a:xfrm>
            <a:off x="888339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891997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1025728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5" name="Text 40"/>
          <p:cNvSpPr/>
          <p:nvPr/>
        </p:nvSpPr>
        <p:spPr>
          <a:xfrm>
            <a:off x="1025728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1029385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4008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82296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532120"/>
            <a:ext cx="219456" cy="219456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141732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+ промпты</a:t>
            </a:r>
            <a:endParaRPr lang="en-US" sz="1350" dirty="0"/>
          </a:p>
        </p:txBody>
      </p:sp>
      <p:sp>
        <p:nvSpPr>
          <p:cNvPr id="51" name="Text 45"/>
          <p:cNvSpPr/>
          <p:nvPr/>
        </p:nvSpPr>
        <p:spPr>
          <a:xfrm>
            <a:off x="86868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блокам: каркас+контент-план → блоки по очереди с катящимся контекстом → гейт качества → zod</a:t>
            </a:r>
            <a:endParaRPr lang="en-US" sz="1100" dirty="0"/>
          </a:p>
        </p:txBody>
      </p:sp>
      <p:sp>
        <p:nvSpPr>
          <p:cNvPr id="52" name="Shape 46"/>
          <p:cNvSpPr/>
          <p:nvPr/>
        </p:nvSpPr>
        <p:spPr>
          <a:xfrm>
            <a:off x="434340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2628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5532120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512064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Парсинг TXT/PDF/DOCX/PPTX</a:t>
            </a:r>
            <a:endParaRPr lang="en-US" sz="1350" dirty="0"/>
          </a:p>
        </p:txBody>
      </p:sp>
      <p:sp>
        <p:nvSpPr>
          <p:cNvPr id="56" name="Text 49"/>
          <p:cNvSpPr/>
          <p:nvPr/>
        </p:nvSpPr>
        <p:spPr>
          <a:xfrm>
            <a:off x="457200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pdf-parse · mammoth · jszip в памяти, guard 5 МБ + проверка magic-bytes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804672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822960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532120"/>
            <a:ext cx="219456" cy="219456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882396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Хранение + безопасность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827532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10 генераций/день · изоляция WHERE user_id на каждом запросе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АРХИТЕКТУРА (СХЕМА)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Потоки данных: 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788920"/>
            <a:ext cx="2286000" cy="914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31482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Браузер педагога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· редактор · экспорт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11880" y="1965960"/>
            <a:ext cx="4434840" cy="39776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11880" y="2084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— монолит (TypeScript)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840480" y="2560320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2560320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5" name="Text 12"/>
          <p:cNvSpPr/>
          <p:nvPr/>
        </p:nvSpPr>
        <p:spPr>
          <a:xfrm>
            <a:off x="4023360" y="26700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app/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023360" y="30358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· auth · кабинет · календарь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3639312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3639312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9" name="Text 16"/>
          <p:cNvSpPr/>
          <p:nvPr/>
        </p:nvSpPr>
        <p:spPr>
          <a:xfrm>
            <a:off x="402336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api/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02336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(SSE) · upload · likes · search · export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40480" y="4718304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0480" y="4718304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23" name="Text 20"/>
          <p:cNvSpPr/>
          <p:nvPr/>
        </p:nvSpPr>
        <p:spPr>
          <a:xfrm>
            <a:off x="4023360" y="48280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lib/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023360" y="5193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· parse · pii · rag · prompt · export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8280" y="219456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26880" y="239572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2514600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921240" y="23957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API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326880" y="2926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 · внешний, локальных моделей нет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098280" y="416052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9326880" y="436168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4480560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921240" y="436168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9326880" y="48920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pgvector · сценарии · планы · календарь · RAG · лайки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2926080" y="3520440"/>
            <a:ext cx="68580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6" name="Text 31"/>
          <p:cNvSpPr/>
          <p:nvPr/>
        </p:nvSpPr>
        <p:spPr>
          <a:xfrm>
            <a:off x="2788920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SSE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8046720" y="288036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8" name="Text 33"/>
          <p:cNvSpPr/>
          <p:nvPr/>
        </p:nvSpPr>
        <p:spPr>
          <a:xfrm>
            <a:off x="7818120" y="25420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/ эмбеддинги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046720" y="484632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40" name="Text 35"/>
          <p:cNvSpPr/>
          <p:nvPr/>
        </p:nvSpPr>
        <p:spPr>
          <a:xfrm>
            <a:off x="7818120" y="44988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(WHERE user_id)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68680" y="61264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Защита: </a:t>
            </a:r>
            <a:pPr indent="0" marL="0">
              <a:buNone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PII-анонимизация ДО любого вызова GigaChat · rate-limit на пользователя · строгая изоляция данных по user_id · TLS-сертификаты Минцифры РФ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ПАЙПЛАЙН ГЕНЕРАЦИИ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рождается сценарий: генерация по блокам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49808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Инсайт: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«насыщает» ~800 токенов за один вызов — один запрос даёт «простыню» ~5 КБ. </a:t>
            </a:r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Методичка «Разговоры о важном» = 9–11 плотных блоков. Значит генерируем ПО ОДНОМУ БЛОКУ за вызов — объём масштабируется числом блоков, а не «уговорами» модели.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29991"/>
            <a:ext cx="241402" cy="24140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1732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Каркас + контент-план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ценности, основные смыслы и список блоков {тип · фокус} по этапам. Смыслы заранее распределены — без повторов.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4612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42900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2900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6" name="Shape 13"/>
          <p:cNvSpPr/>
          <p:nvPr/>
        </p:nvSpPr>
        <p:spPr>
          <a:xfrm>
            <a:off x="361188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639" y="3129991"/>
            <a:ext cx="241402" cy="24140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0624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Блоки по очереди (×N)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5760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блок — отдельный фокусный вызов с RAG-опорой. В следующий вызов передаём сводку готовых блоков — связность и преемственность хода.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03504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21792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1792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3" name="Shape 19"/>
          <p:cNvSpPr/>
          <p:nvPr/>
        </p:nvSpPr>
        <p:spPr>
          <a:xfrm>
            <a:off x="640080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3129991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Гейт качества (без ИИ)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44652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длины, многоходовости «Учитель: …», числа вопросов. Тонкий блок автоматически переписывается.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82396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00684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00684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0" name="Shape 25"/>
          <p:cNvSpPr/>
          <p:nvPr/>
        </p:nvSpPr>
        <p:spPr>
          <a:xfrm>
            <a:off x="918972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479" y="3129991"/>
            <a:ext cx="241402" cy="24140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78408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Сборка и сохранение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923544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Соединение блоков → нормализация хронометража → zod-валидация → запись с изоляцией по user_id.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008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6868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14,6 КБ</a:t>
            </a:r>
            <a:endParaRPr lang="en-US" sz="2700" dirty="0"/>
          </a:p>
        </p:txBody>
      </p:sp>
      <p:sp>
        <p:nvSpPr>
          <p:cNvPr id="36" name="Text 30"/>
          <p:cNvSpPr/>
          <p:nvPr/>
        </p:nvSpPr>
        <p:spPr>
          <a:xfrm>
            <a:off x="86868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сценария — ≈ в 3 раза больше прежнего (~5 КБ)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434340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457200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РоВ-уровень</a:t>
            </a:r>
            <a:endParaRPr lang="en-US" sz="2200" dirty="0"/>
          </a:p>
        </p:txBody>
      </p:sp>
      <p:sp>
        <p:nvSpPr>
          <p:cNvPr id="39" name="Text 33"/>
          <p:cNvSpPr/>
          <p:nvPr/>
        </p:nvSpPr>
        <p:spPr>
          <a:xfrm>
            <a:off x="457200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многоходовой ход «Учитель: …» с конкретикой и вопросами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804672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27532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 сек</a:t>
            </a:r>
            <a:endParaRPr lang="en-US" sz="2700" dirty="0"/>
          </a:p>
        </p:txBody>
      </p:sp>
      <p:sp>
        <p:nvSpPr>
          <p:cNvPr id="42" name="Text 36"/>
          <p:cNvSpPr/>
          <p:nvPr/>
        </p:nvSpPr>
        <p:spPr>
          <a:xfrm>
            <a:off x="827532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замер на GigaChat · 0 «тонких» блоков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MVP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Рабочая версия: полный путь без заглушек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Демо-путь (скриншоты вставить в финал)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32888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32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2860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контекста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310128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Стрим генерации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13308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34256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581144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334256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Блочный редактор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5838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5605272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605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5358384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PDF / DOCX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1874520"/>
            <a:ext cx="53949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55080" y="2011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уже работает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2468880"/>
            <a:ext cx="5029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РоВ-уровня во всех 8 форматах (классный час, квиз, дебаты, киноклуб, проектная сессия…)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и своего материала (PDF/DOCX/PPTX/TXT) как основы сценария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Редактор: добавление/удаление и reorder этапов ↑/↓, точечная регенерация с выбором типа, история версий с откатом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Полноэкранный режим показа на проекторе + календарь-сетка с привязкой к дате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сообщества + семантический поиск, оценка сценария 👍/👎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Фирменный экспорт PDF (с QR) и DOCX · шаринг по ссылке · страница «Что нового»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Админ-панель статистики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4617720"/>
            <a:ext cx="2606040" cy="178308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Ресурсы MVP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VPS · 2 vCPU / 4 ГБ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API (PERS)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Дёшево в эксплуатации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15400" y="4617720"/>
            <a:ext cx="2606040" cy="178308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9828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эл. журналами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Мульти-школьные тенанты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вовлечённости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ДОРОЖНАЯ КАРТА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MVP к масштабу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32720" cy="0"/>
          </a:xfrm>
          <a:prstGeom prst="line">
            <a:avLst/>
          </a:prstGeom>
          <a:noFill/>
          <a:ln w="25400">
            <a:solidFill>
              <a:srgbClr val="E4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286000"/>
            <a:ext cx="365760" cy="365760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926080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Развёрнуто на проде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+ RAG-корпус методичек РоВ · домен plan-wise.ru + HTTPS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библиотека наполнена · порог откалиброван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9040" y="2286000"/>
            <a:ext cx="365760" cy="365760"/>
          </a:xfrm>
          <a:prstGeom prst="ellipse">
            <a:avLst/>
          </a:prstGeom>
          <a:solidFill>
            <a:srgbClr val="F5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2900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2926080"/>
            <a:ext cx="26060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3016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 демо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UAT golden-path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Скринкаст 5–7 мин + презентация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37960" y="2286000"/>
            <a:ext cx="365760" cy="365760"/>
          </a:xfrm>
          <a:prstGeom prst="ellipse">
            <a:avLst/>
          </a:prstGeom>
          <a:solidFill>
            <a:srgbClr val="2741E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2606040" cy="109728"/>
          </a:xfrm>
          <a:prstGeom prst="rect">
            <a:avLst/>
          </a:prstGeom>
          <a:solidFill>
            <a:srgbClr val="2741E0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Пилот в школе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Обкатка с реальными классными руководителями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26880" y="2286000"/>
            <a:ext cx="365760" cy="365760"/>
          </a:xfrm>
          <a:prstGeom prst="ellipse">
            <a:avLst/>
          </a:prstGeom>
          <a:solidFill>
            <a:srgbClr val="093520"/>
          </a:solidFill>
          <a:ln/>
        </p:spPr>
      </p:sp>
      <p:sp>
        <p:nvSpPr>
          <p:cNvPr id="28" name="Text 26"/>
          <p:cNvSpPr/>
          <p:nvPr/>
        </p:nvSpPr>
        <p:spPr>
          <a:xfrm>
            <a:off x="932688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0684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06840" y="2926080"/>
            <a:ext cx="2606040" cy="109728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31" name="Text 29"/>
          <p:cNvSpPr/>
          <p:nvPr/>
        </p:nvSpPr>
        <p:spPr>
          <a:xfrm>
            <a:off x="920800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B2B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3544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 для школ и управлений образования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журналами · аналитика воспитания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здесь →  MVP полностью реализован, идём к пилоту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РИСКИ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Риски и их нейтрализация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035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Риск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Нейтрализация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Утечка ПДн детей во внешний 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Локальная авто-анонимизация (regex + словари), явное согласие с логированием, повторный PII-чек перед шарингом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LLM выдаёт некорректный / неструктурный контент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Двухэтапный промпт, zod-валидация, repair-pass, авто-нормализация хронометража, RAG-опора на методички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Зависимость от GigaChat (доступность, лимиты)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Rate-limit, retry + refresh токена, кэш; библиотека сообщества снижает число генераций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Нагрузка на 4 ГБ RAM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Запрет локальных моделей, @react-pdf вместо headless Chrome, стриминг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Качество подбора похожих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Порог откалиброван (0.72) на наполненной библиотеке + RAG-корпус методичек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Доверие педагогов к ИИ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Человек в петле: полный редактор + версии + контроль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Безопасность прод-инфры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Docker Compose, nginx + HTTPS (Let's Encrypt), ufw, bind 127.0.0.1, ротация секретов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БИЗНЕС-ЭФФЕКТ И МОДЕЛЬ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это растёт само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экономии на каждом сценарии — время педагога возвращается детям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 тыс.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 РФ; «Разговоры о важном» — еженедельный обязательный формат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эффект: больше лайков → богаче библиотека → точнее RAG → выше ценность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монетизации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— педагог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генераций в день, базовый функционал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Школа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лимита, библиотека, статистика, модерация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Управление образования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мульти-школа, аналитика по направлениям воспитания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успеха: число сгенерированных сценариев · % дошедших до экспорта · доля переиспользования из библиотеки · retention педагогов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Planwise — Классный час</dc:title>
  <dc:subject>PptxGenJS Presentation</dc:subject>
  <dc:creator>Planwise team</dc:creator>
  <cp:lastModifiedBy>Planwise team</cp:lastModifiedBy>
  <cp:revision>1</cp:revision>
  <dcterms:created xsi:type="dcterms:W3CDTF">2026-05-27T23:01:39Z</dcterms:created>
  <dcterms:modified xsi:type="dcterms:W3CDTF">2026-05-27T23:01:39Z</dcterms:modified>
</cp:coreProperties>
</file>