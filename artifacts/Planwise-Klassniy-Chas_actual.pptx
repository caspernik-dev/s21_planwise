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0141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isk.yandex.ru/d/2s4CFB_m2acc0Q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svg"/><Relationship Id="rId5" Type="http://schemas.openxmlformats.org/officeDocument/2006/relationships/hyperlink" Target="https://github.com/Caspernik-dev/planwise" TargetMode="External"/><Relationship Id="rId4" Type="http://schemas.openxmlformats.org/officeDocument/2006/relationships/hyperlink" Target="https://plan-wise.ru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7.png"/><Relationship Id="rId4" Type="http://schemas.openxmlformats.org/officeDocument/2006/relationships/hyperlink" Target="https://github.com/Caspernik-dev/planwise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3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F5B8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0E4F3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10789920" y="4023360"/>
            <a:ext cx="3108960" cy="3108960"/>
          </a:xfrm>
          <a:prstGeom prst="ellipse">
            <a:avLst/>
          </a:prstGeom>
          <a:solidFill>
            <a:srgbClr val="0E4F3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</a:t>
            </a:r>
            <a:r>
              <a:rPr lang="en-US" sz="2200" dirty="0" err="1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генератор</a:t>
            </a:r>
            <a:r>
              <a:rPr lang="en-US" sz="220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220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планов</a:t>
            </a:r>
            <a:r>
              <a:rPr lang="en-US" sz="220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dirty="0" err="1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внеурочных</a:t>
            </a:r>
            <a:r>
              <a:rPr lang="en-US" sz="220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dirty="0" err="1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занятий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406908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Готовый методический сценарий за </a:t>
            </a:r>
            <a:r>
              <a:rPr lang="en-US" sz="2000" b="1" dirty="0">
                <a:solidFill>
                  <a:srgbClr val="F5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минуты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вместо </a:t>
            </a:r>
            <a:r>
              <a:rPr lang="en-US" sz="2000" b="1" dirty="0">
                <a:solidFill>
                  <a:srgbClr val="F5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часов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ручной подготовки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52120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базе GigaChat • опора на методички «Разговоры о важном» • защита персональных данных детей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989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300" i="1" dirty="0">
                <a:solidFill>
                  <a:srgbClr val="7F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Материалы </a:t>
            </a:r>
            <a:r>
              <a:rPr lang="ru-RU" sz="1300" b="1" i="1" u="sng" dirty="0">
                <a:solidFill>
                  <a:srgbClr val="F5B8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в облаке</a:t>
            </a:r>
            <a:r>
              <a:rPr lang="en-US" sz="1300" i="1" dirty="0">
                <a:solidFill>
                  <a:srgbClr val="7F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живое демо: </a:t>
            </a:r>
            <a:r>
              <a:rPr lang="en-US" sz="1300" b="1" i="1" u="sng" dirty="0">
                <a:solidFill>
                  <a:srgbClr val="F5B8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plan-wise.ru</a:t>
            </a:r>
            <a:r>
              <a:rPr lang="en-US" sz="1300" i="1" dirty="0">
                <a:solidFill>
                  <a:srgbClr val="7F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код: </a:t>
            </a:r>
            <a:r>
              <a:rPr lang="en-US" sz="1300" b="1" i="1" u="sng" dirty="0">
                <a:solidFill>
                  <a:srgbClr val="F5B8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github.com/Caspernik-dev/planwise</a:t>
            </a:r>
            <a:endParaRPr lang="en-US" sz="130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8A5056E-AA9A-0009-22DF-1EB2549501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1409583"/>
            <a:ext cx="4846320" cy="14422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310896"/>
          </a:xfrm>
          <a:prstGeom prst="rect">
            <a:avLst/>
          </a:prstGeom>
          <a:solidFill>
            <a:srgbClr val="F5B8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060704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КОМАНДА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Команда и зоны ответственности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529584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91440" cy="1874520"/>
          </a:xfrm>
          <a:prstGeom prst="rect">
            <a:avLst/>
          </a:prstGeom>
          <a:solidFill>
            <a:srgbClr val="21A66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914400" y="2212848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/ Research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724912"/>
            <a:ext cx="307238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Продуктовое исследование, интервью с классными руководителями, приоритизация сценариев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3493008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i="1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delpdelv, reynalds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25696" y="2011680"/>
            <a:ext cx="3529584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4425696" y="2011680"/>
            <a:ext cx="91440" cy="1874520"/>
          </a:xfrm>
          <a:prstGeom prst="rect">
            <a:avLst/>
          </a:prstGeom>
          <a:solidFill>
            <a:srgbClr val="21A66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4700016" y="2212848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/ LLM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00016" y="2724912"/>
            <a:ext cx="307238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GigaChat, промпт-инжиниринг, стриминг генерации, серверная логика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00016" y="3493008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i="1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delpdelv, reynalds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11312" y="2011680"/>
            <a:ext cx="3529584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8211312" y="2011680"/>
            <a:ext cx="91440" cy="1874520"/>
          </a:xfrm>
          <a:prstGeom prst="rect">
            <a:avLst/>
          </a:prstGeom>
          <a:solidFill>
            <a:srgbClr val="21A66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8485632" y="2212848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/ RAG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85632" y="2724912"/>
            <a:ext cx="307238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Парсинг «Разговоров о важном», эмбеддинги, гибридный поиск, библиотека сообщества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485632" y="3493008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i="1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reynalds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160520"/>
            <a:ext cx="3529584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640080" y="4160520"/>
            <a:ext cx="91440" cy="1874520"/>
          </a:xfrm>
          <a:prstGeom prst="rect">
            <a:avLst/>
          </a:prstGeom>
          <a:solidFill>
            <a:srgbClr val="21A66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914400" y="4361688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/ UX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14400" y="4873752"/>
            <a:ext cx="307238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Кабинет педагога, блочный редактор, календарь, экспорт PDF/DOCX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14400" y="5641848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i="1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delpdelv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425696" y="4160520"/>
            <a:ext cx="3529584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6" name="Shape 24"/>
          <p:cNvSpPr/>
          <p:nvPr/>
        </p:nvSpPr>
        <p:spPr>
          <a:xfrm>
            <a:off x="4425696" y="4160520"/>
            <a:ext cx="91440" cy="1874520"/>
          </a:xfrm>
          <a:prstGeom prst="rect">
            <a:avLst/>
          </a:prstGeom>
          <a:solidFill>
            <a:srgbClr val="21A66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4700016" y="4361688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DevOps / Security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700016" y="4873752"/>
            <a:ext cx="307238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Развёртывание, изоляция данных, rate-limit, анонимизация ПДн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700016" y="5641848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i="1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delpdelv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211312" y="4160520"/>
            <a:ext cx="3529584" cy="868680"/>
          </a:xfrm>
          <a:prstGeom prst="rect">
            <a:avLst/>
          </a:prstGeom>
          <a:solidFill>
            <a:srgbClr val="F8F9F7"/>
          </a:solidFill>
          <a:ln w="15240">
            <a:solidFill>
              <a:srgbClr val="21A66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/>
          <p:nvPr/>
        </p:nvSpPr>
        <p:spPr>
          <a:xfrm>
            <a:off x="8412480" y="4251960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Продуктовое исследование: </a:t>
            </a:r>
            <a:r>
              <a:rPr lang="en-US" sz="120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выявлены трудозатраты, типовые форматы и приоритетные сценарии.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211312" y="5166360"/>
            <a:ext cx="3529584" cy="1463040"/>
          </a:xfrm>
          <a:prstGeom prst="rect">
            <a:avLst/>
          </a:prstGeom>
          <a:solidFill>
            <a:srgbClr val="09352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3" name="Text 31"/>
          <p:cNvSpPr/>
          <p:nvPr/>
        </p:nvSpPr>
        <p:spPr>
          <a:xfrm>
            <a:off x="8439912" y="5303520"/>
            <a:ext cx="30723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Команда Planwise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439912" y="5779008"/>
            <a:ext cx="3072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Никита Феоктистов </a:t>
            </a:r>
            <a:r>
              <a:rPr lang="en-US" sz="135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(delpdelv)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439912" y="6172200"/>
            <a:ext cx="3072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Данияр Хабибуллин </a:t>
            </a:r>
            <a:r>
              <a:rPr lang="en-US" sz="135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(reynalds)</a:t>
            </a:r>
            <a:endParaRPr lang="en-US" sz="1350" dirty="0"/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0E25471B-D595-3D76-0CB1-4F0BD4DF33AF}"/>
              </a:ext>
            </a:extLst>
          </p:cNvPr>
          <p:cNvPicPr>
            <a:picLocks noChangeAspect="1"/>
          </p:cNvPicPr>
          <p:nvPr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6096" y="133101"/>
            <a:ext cx="367385" cy="43382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310896"/>
          </a:xfrm>
          <a:prstGeom prst="rect">
            <a:avLst/>
          </a:prstGeom>
          <a:solidFill>
            <a:srgbClr val="F5B8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060704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ПРОБЛЕМА И ПОЛЬЗОВАТЕЛИ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1–3 часа на каждый сценарий → выгорание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4864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868680" y="2194560"/>
            <a:ext cx="640080" cy="640080"/>
          </a:xfrm>
          <a:prstGeom prst="ellipse">
            <a:avLst/>
          </a:prstGeom>
          <a:solidFill>
            <a:srgbClr val="09352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236098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24028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Кто пользователь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5840" y="297180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Классный руководитель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Советник по воспитанию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Педагог-организатор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005840" y="4160520"/>
            <a:ext cx="4754880" cy="0"/>
          </a:xfrm>
          <a:prstGeom prst="line">
            <a:avLst/>
          </a:prstGeom>
          <a:noFill/>
          <a:ln w="12700">
            <a:solidFill>
              <a:srgbClr val="E4E6E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1005840" y="4251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 столкновения с проблемой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05840" y="461772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«Вечер воскресенья. Завтра классный час по патриотическому направлению для 7 класса. Методичек много, времени нет — нужен вовлекающий сценарий с хронометражем и вопросами, а не реферат».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355080" y="1965960"/>
            <a:ext cx="5166360" cy="1874520"/>
          </a:xfrm>
          <a:prstGeom prst="rect">
            <a:avLst/>
          </a:prstGeom>
          <a:solidFill>
            <a:srgbClr val="09352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6537960" y="21031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1–3 ч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6537960" y="29718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подготовку одного сценария вручную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9098280" y="2240280"/>
            <a:ext cx="0" cy="1280160"/>
          </a:xfrm>
          <a:prstGeom prst="line">
            <a:avLst/>
          </a:prstGeom>
          <a:noFill/>
          <a:ln w="19050">
            <a:solidFill>
              <a:srgbClr val="0E4F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9281160" y="210312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30+</a:t>
            </a:r>
            <a:endParaRPr lang="en-US" sz="4600" dirty="0"/>
          </a:p>
        </p:txBody>
      </p:sp>
      <p:sp>
        <p:nvSpPr>
          <p:cNvPr id="18" name="Text 15"/>
          <p:cNvSpPr/>
          <p:nvPr/>
        </p:nvSpPr>
        <p:spPr>
          <a:xfrm>
            <a:off x="9281160" y="29718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занятий за четверть = десятки часов рутины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355080" y="3977640"/>
            <a:ext cx="51663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0" name="Text 17"/>
          <p:cNvSpPr/>
          <p:nvPr/>
        </p:nvSpPr>
        <p:spPr>
          <a:xfrm>
            <a:off x="6583680" y="4114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мешает сегодня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6629400" y="4617720"/>
            <a:ext cx="4709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Методички разрознены, единого источника нет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Голый ChatGPT/GigaChat даёт «простыню» без хронометража и воспитательных результатов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Нельзя загружать данные детей в чужой ИИ — риск утечки ПДн</a:t>
            </a:r>
            <a:endParaRPr lang="en-US" sz="1400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7D916E18-02D3-B637-9240-5A5953DC134A}"/>
              </a:ext>
            </a:extLst>
          </p:cNvPr>
          <p:cNvPicPr>
            <a:picLocks noChangeAspect="1"/>
          </p:cNvPicPr>
          <p:nvPr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6096" y="133101"/>
            <a:ext cx="367385" cy="4338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310896"/>
          </a:xfrm>
          <a:prstGeom prst="rect">
            <a:avLst/>
          </a:prstGeom>
          <a:solidFill>
            <a:srgbClr val="F5B8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060704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РЕШЕНИЕ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Методический инструмент, а не обёртка над ИИ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Задал контекст </a:t>
            </a:r>
            <a:r>
              <a:rPr lang="en-US" sz="1500" b="1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(направление · класс · тема · формат · длительность)</a:t>
            </a:r>
            <a:r>
              <a:rPr lang="en-US" sz="1500" b="1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ИИ собрал сценарий с опорой на методички  →  отредактировал  →  выгрузил в PDF/DOCX.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474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878BFC0B-580A-AF01-CF8C-4C12D00A599E}"/>
              </a:ext>
            </a:extLst>
          </p:cNvPr>
          <p:cNvGrpSpPr/>
          <p:nvPr/>
        </p:nvGrpSpPr>
        <p:grpSpPr>
          <a:xfrm>
            <a:off x="822960" y="2487168"/>
            <a:ext cx="502920" cy="502920"/>
            <a:chOff x="822960" y="2487168"/>
            <a:chExt cx="502920" cy="502920"/>
          </a:xfrm>
        </p:grpSpPr>
        <p:sp>
          <p:nvSpPr>
            <p:cNvPr id="7" name="Shape 5"/>
            <p:cNvSpPr/>
            <p:nvPr/>
          </p:nvSpPr>
          <p:spPr>
            <a:xfrm>
              <a:off x="822960" y="2487168"/>
              <a:ext cx="502920" cy="502920"/>
            </a:xfrm>
            <a:prstGeom prst="ellipse">
              <a:avLst/>
            </a:prstGeom>
            <a:solidFill>
              <a:srgbClr val="21A663"/>
            </a:solidFill>
            <a:ln/>
          </p:spPr>
          <p:txBody>
            <a:bodyPr/>
            <a:lstStyle/>
            <a:p>
              <a:endParaRPr lang="ru-RU"/>
            </a:p>
          </p:txBody>
        </p:sp>
        <p:pic>
          <p:nvPicPr>
            <p:cNvPr id="8" name="Image 0" descr="preencoded.png"/>
            <p:cNvPicPr>
              <a:picLocks noChangeAspect="1"/>
            </p:cNvPicPr>
            <p:nvPr/>
          </p:nvPicPr>
          <p:blipFill>
            <a:blip r:embed="rId3">
              <a:biLevel thresh="50000"/>
            </a:blip>
            <a:stretch>
              <a:fillRect/>
            </a:stretch>
          </p:blipFill>
          <p:spPr>
            <a:xfrm>
              <a:off x="953719" y="2617927"/>
              <a:ext cx="241402" cy="241402"/>
            </a:xfrm>
            <a:prstGeom prst="rect">
              <a:avLst/>
            </a:prstGeom>
          </p:spPr>
        </p:pic>
      </p:grpSp>
      <p:sp>
        <p:nvSpPr>
          <p:cNvPr id="9" name="Text 6"/>
          <p:cNvSpPr/>
          <p:nvPr/>
        </p:nvSpPr>
        <p:spPr>
          <a:xfrm>
            <a:off x="1508760" y="239572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Ручной ввод темы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43400" y="2331720"/>
            <a:ext cx="3474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C4101E8B-F926-549C-190F-628D14B32B10}"/>
              </a:ext>
            </a:extLst>
          </p:cNvPr>
          <p:cNvGrpSpPr/>
          <p:nvPr/>
        </p:nvGrpSpPr>
        <p:grpSpPr>
          <a:xfrm>
            <a:off x="4526280" y="2487168"/>
            <a:ext cx="502920" cy="502920"/>
            <a:chOff x="4526280" y="2487168"/>
            <a:chExt cx="502920" cy="502920"/>
          </a:xfrm>
        </p:grpSpPr>
        <p:sp>
          <p:nvSpPr>
            <p:cNvPr id="11" name="Shape 8"/>
            <p:cNvSpPr/>
            <p:nvPr/>
          </p:nvSpPr>
          <p:spPr>
            <a:xfrm>
              <a:off x="4526280" y="2487168"/>
              <a:ext cx="502920" cy="502920"/>
            </a:xfrm>
            <a:prstGeom prst="ellipse">
              <a:avLst/>
            </a:prstGeom>
            <a:solidFill>
              <a:srgbClr val="21A663"/>
            </a:solidFill>
            <a:ln/>
          </p:spPr>
          <p:txBody>
            <a:bodyPr/>
            <a:lstStyle/>
            <a:p>
              <a:endParaRPr lang="ru-RU"/>
            </a:p>
          </p:txBody>
        </p:sp>
        <p:pic>
          <p:nvPicPr>
            <p:cNvPr id="12" name="Image 1" descr="preencoded.png"/>
            <p:cNvPicPr>
              <a:picLocks noChangeAspect="1"/>
            </p:cNvPicPr>
            <p:nvPr/>
          </p:nvPicPr>
          <p:blipFill>
            <a:blip r:embed="rId4">
              <a:biLevel thresh="50000"/>
            </a:blip>
            <a:stretch>
              <a:fillRect/>
            </a:stretch>
          </p:blipFill>
          <p:spPr>
            <a:xfrm>
              <a:off x="4657039" y="2617927"/>
              <a:ext cx="241402" cy="241402"/>
            </a:xfrm>
            <a:prstGeom prst="rect">
              <a:avLst/>
            </a:prstGeom>
          </p:spPr>
        </p:pic>
      </p:grpSp>
      <p:sp>
        <p:nvSpPr>
          <p:cNvPr id="13" name="Text 9"/>
          <p:cNvSpPr/>
          <p:nvPr/>
        </p:nvSpPr>
        <p:spPr>
          <a:xfrm>
            <a:off x="5212080" y="239572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плана школы — система сама предложит следующую незакрытую тему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2331720"/>
            <a:ext cx="3474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19727B31-272A-64C0-70CF-9854D001FE9C}"/>
              </a:ext>
            </a:extLst>
          </p:cNvPr>
          <p:cNvGrpSpPr/>
          <p:nvPr/>
        </p:nvGrpSpPr>
        <p:grpSpPr>
          <a:xfrm>
            <a:off x="8229600" y="2487168"/>
            <a:ext cx="502920" cy="502920"/>
            <a:chOff x="8229600" y="2487168"/>
            <a:chExt cx="502920" cy="502920"/>
          </a:xfrm>
        </p:grpSpPr>
        <p:sp>
          <p:nvSpPr>
            <p:cNvPr id="15" name="Shape 11"/>
            <p:cNvSpPr/>
            <p:nvPr/>
          </p:nvSpPr>
          <p:spPr>
            <a:xfrm>
              <a:off x="8229600" y="2487168"/>
              <a:ext cx="502920" cy="502920"/>
            </a:xfrm>
            <a:prstGeom prst="ellipse">
              <a:avLst/>
            </a:prstGeom>
            <a:solidFill>
              <a:srgbClr val="21A663"/>
            </a:solidFill>
            <a:ln/>
          </p:spPr>
          <p:txBody>
            <a:bodyPr/>
            <a:lstStyle/>
            <a:p>
              <a:endParaRPr lang="ru-RU"/>
            </a:p>
          </p:txBody>
        </p:sp>
        <p:pic>
          <p:nvPicPr>
            <p:cNvPr id="16" name="Image 2" descr="preencoded.png"/>
            <p:cNvPicPr>
              <a:picLocks noChangeAspect="1"/>
            </p:cNvPicPr>
            <p:nvPr/>
          </p:nvPicPr>
          <p:blipFill>
            <a:blip r:embed="rId5">
              <a:biLevel thresh="50000"/>
            </a:blip>
            <a:stretch>
              <a:fillRect/>
            </a:stretch>
          </p:blipFill>
          <p:spPr>
            <a:xfrm>
              <a:off x="8360359" y="2617927"/>
              <a:ext cx="241402" cy="241402"/>
            </a:xfrm>
            <a:prstGeom prst="rect">
              <a:avLst/>
            </a:prstGeom>
          </p:spPr>
        </p:pic>
      </p:grpSp>
      <p:sp>
        <p:nvSpPr>
          <p:cNvPr id="17" name="Text 12"/>
          <p:cNvSpPr/>
          <p:nvPr/>
        </p:nvSpPr>
        <p:spPr>
          <a:xfrm>
            <a:off x="8915400" y="239572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Календарь поводов или библиотека сообщества</a:t>
            </a:r>
            <a:endParaRPr lang="en-US" sz="12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611880"/>
          <a:ext cx="10881360" cy="2798064"/>
        </p:xfrm>
        <a:graphic>
          <a:graphicData uri="http://schemas.openxmlformats.org/drawingml/2006/table">
            <a:tbl>
              <a:tblPr/>
              <a:tblGrid>
                <a:gridCol w="429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Возможность</a:t>
                      </a:r>
                      <a:endParaRPr lang="en-US" sz="12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3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Голый ChatGPT</a:t>
                      </a:r>
                      <a:endParaRPr lang="en-US" sz="12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3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Методички PDF</a:t>
                      </a:r>
                      <a:endParaRPr lang="en-US" sz="12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3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Planwise</a:t>
                      </a:r>
                      <a:endParaRPr lang="en-US" sz="125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3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160F"/>
                          </a:solidFill>
                        </a:rPr>
                        <a:t>Структура: этапы + хронометраж</a:t>
                      </a:r>
                      <a:endParaRPr lang="en-US" sz="12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717670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17670"/>
                          </a:solidFill>
                        </a:rPr>
                        <a:t>статично</a:t>
                      </a:r>
                      <a:endParaRPr lang="en-US" sz="11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1A663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160F"/>
                          </a:solidFill>
                        </a:rPr>
                        <a:t>Воспитательные результаты</a:t>
                      </a:r>
                      <a:endParaRPr lang="en-US" sz="12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717670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1A663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1A663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160F"/>
                          </a:solidFill>
                        </a:rPr>
                        <a:t>Опора на «Разговоры о важном»</a:t>
                      </a:r>
                      <a:endParaRPr lang="en-US" sz="12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717670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17670"/>
                          </a:solidFill>
                        </a:rPr>
                        <a:t>ищи сам</a:t>
                      </a:r>
                      <a:endParaRPr lang="en-US" sz="11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1A663"/>
                          </a:solidFill>
                        </a:rPr>
                        <a:t>✓ RAG авто</a:t>
                      </a:r>
                      <a:endParaRPr lang="en-US" sz="12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160F"/>
                          </a:solidFill>
                        </a:rPr>
                        <a:t>Загрузка плана + следующая тема</a:t>
                      </a:r>
                      <a:endParaRPr lang="en-US" sz="12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717670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717670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1A663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160F"/>
                          </a:solidFill>
                        </a:rPr>
                        <a:t>Свой материал как основа сценария</a:t>
                      </a:r>
                      <a:endParaRPr lang="en-US" sz="12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717670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17670"/>
                          </a:solidFill>
                        </a:rPr>
                        <a:t>вручную</a:t>
                      </a:r>
                      <a:endParaRPr lang="en-US" sz="11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1A663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160F"/>
                          </a:solidFill>
                        </a:rPr>
                        <a:t>Защита ПДн детей</a:t>
                      </a:r>
                      <a:endParaRPr lang="en-US" sz="12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7800"/>
                          </a:solidFill>
                        </a:rPr>
                        <a:t>утекают</a:t>
                      </a:r>
                      <a:endParaRPr lang="en-US" sz="11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717670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1A663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160F"/>
                          </a:solidFill>
                        </a:rPr>
                        <a:t>Редактор + фирменный PDF / DOCX</a:t>
                      </a:r>
                      <a:endParaRPr lang="en-US" sz="12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717670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717670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1A663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160F"/>
                          </a:solidFill>
                        </a:rPr>
                        <a:t>Библиотека сообщества + шаринг по ссылке</a:t>
                      </a:r>
                      <a:endParaRPr lang="en-US" sz="12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717670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717670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1A663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CA970D85-F1C4-E505-FC30-FDB7884131FC}"/>
              </a:ext>
            </a:extLst>
          </p:cNvPr>
          <p:cNvPicPr>
            <a:picLocks noChangeAspect="1"/>
          </p:cNvPicPr>
          <p:nvPr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86096" y="133101"/>
            <a:ext cx="367385" cy="4338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310896"/>
          </a:xfrm>
          <a:prstGeom prst="rect">
            <a:avLst/>
          </a:prstGeom>
          <a:solidFill>
            <a:srgbClr val="F5B8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060704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ТЕХНИЧЕСКАЯ РЕАЛИЗАЦИЯ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Клиент ↔ сервер ↔ LLM ↔ БД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841248" y="2121408"/>
            <a:ext cx="548640" cy="548640"/>
          </a:xfrm>
          <a:prstGeom prst="ellipse">
            <a:avLst/>
          </a:prstGeom>
          <a:solidFill>
            <a:srgbClr val="09352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94" y="2264054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0299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Next.js 15 (монолит)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68680" y="26974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Router, Server Actions, Route Handlers, TypeScript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43400" y="192024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4114800" y="1920240"/>
            <a:ext cx="228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A663"/>
                </a:solidFill>
              </a:rPr>
              <a:t>↔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544568" y="2121408"/>
            <a:ext cx="548640" cy="548640"/>
          </a:xfrm>
          <a:prstGeom prst="ellipse">
            <a:avLst/>
          </a:prstGeom>
          <a:solidFill>
            <a:srgbClr val="09352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7214" y="2264054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57800" y="20299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GigaChat (внешний API)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572000" y="26974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+ EmbeddingsGigaR (2560d). Локальные модели запрещены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046720" y="192024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Text 12"/>
          <p:cNvSpPr/>
          <p:nvPr/>
        </p:nvSpPr>
        <p:spPr>
          <a:xfrm>
            <a:off x="7818120" y="1920240"/>
            <a:ext cx="228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A663"/>
                </a:solidFill>
              </a:rPr>
              <a:t>↔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8247888" y="2121408"/>
            <a:ext cx="548640" cy="548640"/>
          </a:xfrm>
          <a:prstGeom prst="ellipse">
            <a:avLst/>
          </a:prstGeom>
          <a:solidFill>
            <a:srgbClr val="09352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0534" y="2264054"/>
            <a:ext cx="263347" cy="26334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961120" y="20299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PostgreSQL 16 + pgvector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275320" y="26974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сценарии · планы · календарь · RAG-корпус · лайки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40080" y="3611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Пайплайн генерации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640080" y="4069080"/>
            <a:ext cx="1264158" cy="777240"/>
          </a:xfrm>
          <a:prstGeom prst="rect">
            <a:avLst/>
          </a:prstGeom>
          <a:solidFill>
            <a:srgbClr val="0E4F3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Text 19"/>
          <p:cNvSpPr/>
          <p:nvPr/>
        </p:nvSpPr>
        <p:spPr>
          <a:xfrm>
            <a:off x="640080" y="4123944"/>
            <a:ext cx="12641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76656" y="4361688"/>
            <a:ext cx="11910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2013966" y="4069080"/>
            <a:ext cx="1264158" cy="777240"/>
          </a:xfrm>
          <a:prstGeom prst="rect">
            <a:avLst/>
          </a:prstGeom>
          <a:solidFill>
            <a:srgbClr val="21A66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2"/>
          <p:cNvSpPr/>
          <p:nvPr/>
        </p:nvSpPr>
        <p:spPr>
          <a:xfrm>
            <a:off x="2013966" y="4123944"/>
            <a:ext cx="12641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2050542" y="4361688"/>
            <a:ext cx="11910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Анонимизация ПДн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3387852" y="4069080"/>
            <a:ext cx="1264158" cy="777240"/>
          </a:xfrm>
          <a:prstGeom prst="rect">
            <a:avLst/>
          </a:prstGeom>
          <a:solidFill>
            <a:srgbClr val="0E4F3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0" name="Text 25"/>
          <p:cNvSpPr/>
          <p:nvPr/>
        </p:nvSpPr>
        <p:spPr>
          <a:xfrm>
            <a:off x="3387852" y="4123944"/>
            <a:ext cx="12641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3424428" y="4361688"/>
            <a:ext cx="11910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Pre-match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4761738" y="4069080"/>
            <a:ext cx="1264158" cy="777240"/>
          </a:xfrm>
          <a:prstGeom prst="rect">
            <a:avLst/>
          </a:prstGeom>
          <a:solidFill>
            <a:srgbClr val="21A66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28"/>
          <p:cNvSpPr/>
          <p:nvPr/>
        </p:nvSpPr>
        <p:spPr>
          <a:xfrm>
            <a:off x="4761738" y="4123944"/>
            <a:ext cx="12641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4798314" y="4361688"/>
            <a:ext cx="11910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RAG-поиск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6135624" y="4069080"/>
            <a:ext cx="1264158" cy="777240"/>
          </a:xfrm>
          <a:prstGeom prst="rect">
            <a:avLst/>
          </a:prstGeom>
          <a:solidFill>
            <a:srgbClr val="0E4F3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6" name="Text 31"/>
          <p:cNvSpPr/>
          <p:nvPr/>
        </p:nvSpPr>
        <p:spPr>
          <a:xfrm>
            <a:off x="6135624" y="4123944"/>
            <a:ext cx="12641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6172200" y="4361688"/>
            <a:ext cx="11910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Каркас + план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7509510" y="4069080"/>
            <a:ext cx="1264158" cy="777240"/>
          </a:xfrm>
          <a:prstGeom prst="rect">
            <a:avLst/>
          </a:prstGeom>
          <a:solidFill>
            <a:srgbClr val="21A66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4"/>
          <p:cNvSpPr/>
          <p:nvPr/>
        </p:nvSpPr>
        <p:spPr>
          <a:xfrm>
            <a:off x="7509510" y="4123944"/>
            <a:ext cx="12641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7546086" y="4361688"/>
            <a:ext cx="11910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Блоки ×N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8883396" y="4069080"/>
            <a:ext cx="1264158" cy="777240"/>
          </a:xfrm>
          <a:prstGeom prst="rect">
            <a:avLst/>
          </a:prstGeom>
          <a:solidFill>
            <a:srgbClr val="0E4F3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2" name="Text 37"/>
          <p:cNvSpPr/>
          <p:nvPr/>
        </p:nvSpPr>
        <p:spPr>
          <a:xfrm>
            <a:off x="8883396" y="4123944"/>
            <a:ext cx="12641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200" dirty="0"/>
          </a:p>
        </p:txBody>
      </p:sp>
      <p:sp>
        <p:nvSpPr>
          <p:cNvPr id="43" name="Text 38"/>
          <p:cNvSpPr/>
          <p:nvPr/>
        </p:nvSpPr>
        <p:spPr>
          <a:xfrm>
            <a:off x="8919972" y="4361688"/>
            <a:ext cx="11910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Гейт качества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10257282" y="4069080"/>
            <a:ext cx="1264158" cy="777240"/>
          </a:xfrm>
          <a:prstGeom prst="rect">
            <a:avLst/>
          </a:prstGeom>
          <a:solidFill>
            <a:srgbClr val="0E4F3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5" name="Text 40"/>
          <p:cNvSpPr/>
          <p:nvPr/>
        </p:nvSpPr>
        <p:spPr>
          <a:xfrm>
            <a:off x="10257282" y="4123944"/>
            <a:ext cx="12641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200" dirty="0"/>
          </a:p>
        </p:txBody>
      </p:sp>
      <p:sp>
        <p:nvSpPr>
          <p:cNvPr id="46" name="Text 41"/>
          <p:cNvSpPr/>
          <p:nvPr/>
        </p:nvSpPr>
        <p:spPr>
          <a:xfrm>
            <a:off x="10293858" y="4361688"/>
            <a:ext cx="11910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Сохранение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640080" y="5212080"/>
            <a:ext cx="3474720" cy="1234440"/>
          </a:xfrm>
          <a:prstGeom prst="rect">
            <a:avLst/>
          </a:prstGeom>
          <a:solidFill>
            <a:srgbClr val="F8F9F7"/>
          </a:solidFill>
          <a:ln w="16510">
            <a:solidFill>
              <a:srgbClr val="21A66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8" name="Shape 43"/>
          <p:cNvSpPr/>
          <p:nvPr/>
        </p:nvSpPr>
        <p:spPr>
          <a:xfrm>
            <a:off x="822960" y="5413248"/>
            <a:ext cx="457200" cy="457200"/>
          </a:xfrm>
          <a:prstGeom prst="ellipse">
            <a:avLst/>
          </a:prstGeom>
          <a:solidFill>
            <a:srgbClr val="21A66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9" name="Image 3" descr="preencoded.png"/>
          <p:cNvPicPr>
            <a:picLocks noChangeAspect="1"/>
          </p:cNvPicPr>
          <p:nvPr/>
        </p:nvPicPr>
        <p:blipFill>
          <a:blip r:embed="rId4">
            <a:biLevel thresh="50000"/>
          </a:blip>
          <a:stretch>
            <a:fillRect/>
          </a:stretch>
        </p:blipFill>
        <p:spPr>
          <a:xfrm>
            <a:off x="941832" y="5532120"/>
            <a:ext cx="219456" cy="219456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1417320" y="53766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+ промпты</a:t>
            </a:r>
            <a:endParaRPr lang="en-US" sz="1350" dirty="0"/>
          </a:p>
        </p:txBody>
      </p:sp>
      <p:sp>
        <p:nvSpPr>
          <p:cNvPr id="51" name="Text 45"/>
          <p:cNvSpPr/>
          <p:nvPr/>
        </p:nvSpPr>
        <p:spPr>
          <a:xfrm>
            <a:off x="868680" y="587044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блокам: каркас+контент-план → блоки по очереди с катящимся контекстом → гейт качества → zod</a:t>
            </a:r>
            <a:endParaRPr lang="en-US" sz="1100" dirty="0"/>
          </a:p>
        </p:txBody>
      </p:sp>
      <p:sp>
        <p:nvSpPr>
          <p:cNvPr id="52" name="Shape 46"/>
          <p:cNvSpPr/>
          <p:nvPr/>
        </p:nvSpPr>
        <p:spPr>
          <a:xfrm>
            <a:off x="4343400" y="5212080"/>
            <a:ext cx="3474720" cy="1234440"/>
          </a:xfrm>
          <a:prstGeom prst="rect">
            <a:avLst/>
          </a:prstGeom>
          <a:solidFill>
            <a:srgbClr val="F8F9F7"/>
          </a:solidFill>
          <a:ln w="16510">
            <a:solidFill>
              <a:srgbClr val="21A66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3" name="Shape 47"/>
          <p:cNvSpPr/>
          <p:nvPr/>
        </p:nvSpPr>
        <p:spPr>
          <a:xfrm>
            <a:off x="4526280" y="5413248"/>
            <a:ext cx="457200" cy="457200"/>
          </a:xfrm>
          <a:prstGeom prst="ellipse">
            <a:avLst/>
          </a:prstGeom>
          <a:solidFill>
            <a:srgbClr val="21A66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4" name="Image 4" descr="preencoded.png"/>
          <p:cNvPicPr>
            <a:picLocks noChangeAspect="1"/>
          </p:cNvPicPr>
          <p:nvPr/>
        </p:nvPicPr>
        <p:blipFill>
          <a:blip r:embed="rId6">
            <a:biLevel thresh="50000"/>
          </a:blip>
          <a:stretch>
            <a:fillRect/>
          </a:stretch>
        </p:blipFill>
        <p:spPr>
          <a:xfrm>
            <a:off x="4645152" y="5532120"/>
            <a:ext cx="219456" cy="219456"/>
          </a:xfrm>
          <a:prstGeom prst="rect">
            <a:avLst/>
          </a:prstGeom>
        </p:spPr>
      </p:pic>
      <p:sp>
        <p:nvSpPr>
          <p:cNvPr id="55" name="Text 48"/>
          <p:cNvSpPr/>
          <p:nvPr/>
        </p:nvSpPr>
        <p:spPr>
          <a:xfrm>
            <a:off x="5120640" y="53766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Парсинг TXT/PDF/DOCX/PPTX</a:t>
            </a:r>
            <a:endParaRPr lang="en-US" sz="1350" dirty="0"/>
          </a:p>
        </p:txBody>
      </p:sp>
      <p:sp>
        <p:nvSpPr>
          <p:cNvPr id="56" name="Text 49"/>
          <p:cNvSpPr/>
          <p:nvPr/>
        </p:nvSpPr>
        <p:spPr>
          <a:xfrm>
            <a:off x="4572000" y="587044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pdf-parse · mammoth · jszip в памяти, guard 5 МБ + проверка magic-bytes</a:t>
            </a:r>
            <a:endParaRPr lang="en-US" sz="1100" dirty="0"/>
          </a:p>
        </p:txBody>
      </p:sp>
      <p:sp>
        <p:nvSpPr>
          <p:cNvPr id="57" name="Shape 50"/>
          <p:cNvSpPr/>
          <p:nvPr/>
        </p:nvSpPr>
        <p:spPr>
          <a:xfrm>
            <a:off x="8046720" y="5212080"/>
            <a:ext cx="3474720" cy="1234440"/>
          </a:xfrm>
          <a:prstGeom prst="rect">
            <a:avLst/>
          </a:prstGeom>
          <a:solidFill>
            <a:srgbClr val="F8F9F7"/>
          </a:solidFill>
          <a:ln w="16510">
            <a:solidFill>
              <a:srgbClr val="21A66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8" name="Shape 51"/>
          <p:cNvSpPr/>
          <p:nvPr/>
        </p:nvSpPr>
        <p:spPr>
          <a:xfrm>
            <a:off x="8229600" y="5413248"/>
            <a:ext cx="457200" cy="457200"/>
          </a:xfrm>
          <a:prstGeom prst="ellipse">
            <a:avLst/>
          </a:prstGeom>
          <a:solidFill>
            <a:srgbClr val="21A66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9" name="Image 5" descr="preencoded.png"/>
          <p:cNvPicPr>
            <a:picLocks noChangeAspect="1"/>
          </p:cNvPicPr>
          <p:nvPr/>
        </p:nvPicPr>
        <p:blipFill>
          <a:blip r:embed="rId7">
            <a:biLevel thresh="50000"/>
          </a:blip>
          <a:stretch>
            <a:fillRect/>
          </a:stretch>
        </p:blipFill>
        <p:spPr>
          <a:xfrm>
            <a:off x="8348472" y="5532120"/>
            <a:ext cx="219456" cy="219456"/>
          </a:xfrm>
          <a:prstGeom prst="rect">
            <a:avLst/>
          </a:prstGeom>
        </p:spPr>
      </p:pic>
      <p:sp>
        <p:nvSpPr>
          <p:cNvPr id="60" name="Text 52"/>
          <p:cNvSpPr/>
          <p:nvPr/>
        </p:nvSpPr>
        <p:spPr>
          <a:xfrm>
            <a:off x="8823960" y="53766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Хранение + безопасность</a:t>
            </a:r>
            <a:endParaRPr lang="en-US" sz="1350" dirty="0"/>
          </a:p>
        </p:txBody>
      </p:sp>
      <p:sp>
        <p:nvSpPr>
          <p:cNvPr id="61" name="Text 53"/>
          <p:cNvSpPr/>
          <p:nvPr/>
        </p:nvSpPr>
        <p:spPr>
          <a:xfrm>
            <a:off x="8275320" y="587044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 10 генераций/день · изоляция WHERE user_id на каждом запросе</a:t>
            </a:r>
            <a:endParaRPr lang="en-US" sz="1100" dirty="0"/>
          </a:p>
        </p:txBody>
      </p:sp>
      <p:pic>
        <p:nvPicPr>
          <p:cNvPr id="63" name="Рисунок 62">
            <a:extLst>
              <a:ext uri="{FF2B5EF4-FFF2-40B4-BE49-F238E27FC236}">
                <a16:creationId xmlns:a16="http://schemas.microsoft.com/office/drawing/2014/main" id="{43F51A8C-A4A2-6D6E-900B-BB0AC230B603}"/>
              </a:ext>
            </a:extLst>
          </p:cNvPr>
          <p:cNvPicPr>
            <a:picLocks noChangeAspect="1"/>
          </p:cNvPicPr>
          <p:nvPr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86096" y="133101"/>
            <a:ext cx="367385" cy="4338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310896"/>
          </a:xfrm>
          <a:prstGeom prst="rect">
            <a:avLst/>
          </a:prstGeom>
          <a:solidFill>
            <a:srgbClr val="F5B8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060704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АРХИТЕКТУРА (СХЕМА)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Потоки данных: клиент ↔ сервер ↔ LLM ↔ БД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2286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2286000" cy="91440"/>
          </a:xfrm>
          <a:prstGeom prst="rect">
            <a:avLst/>
          </a:prstGeom>
          <a:solidFill>
            <a:srgbClr val="21A66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868680" y="3017520"/>
            <a:ext cx="502920" cy="502920"/>
          </a:xfrm>
          <a:prstGeom prst="ellipse">
            <a:avLst/>
          </a:prstGeom>
          <a:solidFill>
            <a:srgbClr val="09352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" y="3148279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611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Браузер педагога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3931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· редактор · экспорт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611880" y="1965960"/>
            <a:ext cx="4434840" cy="3977640"/>
          </a:xfrm>
          <a:prstGeom prst="rect">
            <a:avLst/>
          </a:prstGeom>
          <a:solidFill>
            <a:srgbClr val="09352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3611880" y="208483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Next.js 15 — монолит (TypeScript)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840480" y="2560320"/>
            <a:ext cx="3977640" cy="914400"/>
          </a:xfrm>
          <a:prstGeom prst="rect">
            <a:avLst/>
          </a:prstGeom>
          <a:solidFill>
            <a:srgbClr val="0E4F3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Shape 11"/>
          <p:cNvSpPr/>
          <p:nvPr/>
        </p:nvSpPr>
        <p:spPr>
          <a:xfrm>
            <a:off x="3840480" y="2560320"/>
            <a:ext cx="82296" cy="914400"/>
          </a:xfrm>
          <a:prstGeom prst="rect">
            <a:avLst/>
          </a:prstGeom>
          <a:solidFill>
            <a:srgbClr val="66D9A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4023360" y="26700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app/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023360" y="30358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лендинг · auth · кабинет · календарь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840480" y="3639312"/>
            <a:ext cx="3977640" cy="914400"/>
          </a:xfrm>
          <a:prstGeom prst="rect">
            <a:avLst/>
          </a:prstGeom>
          <a:solidFill>
            <a:srgbClr val="0E4F3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Shape 15"/>
          <p:cNvSpPr/>
          <p:nvPr/>
        </p:nvSpPr>
        <p:spPr>
          <a:xfrm>
            <a:off x="3840480" y="3639312"/>
            <a:ext cx="82296" cy="914400"/>
          </a:xfrm>
          <a:prstGeom prst="rect">
            <a:avLst/>
          </a:prstGeom>
          <a:solidFill>
            <a:srgbClr val="66D9A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6"/>
          <p:cNvSpPr/>
          <p:nvPr/>
        </p:nvSpPr>
        <p:spPr>
          <a:xfrm>
            <a:off x="4023360" y="3749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api/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02336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(SSE) · upload · likes · search · export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840480" y="4718304"/>
            <a:ext cx="3977640" cy="914400"/>
          </a:xfrm>
          <a:prstGeom prst="rect">
            <a:avLst/>
          </a:prstGeom>
          <a:solidFill>
            <a:srgbClr val="0E4F3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Shape 19"/>
          <p:cNvSpPr/>
          <p:nvPr/>
        </p:nvSpPr>
        <p:spPr>
          <a:xfrm>
            <a:off x="3840480" y="4718304"/>
            <a:ext cx="82296" cy="914400"/>
          </a:xfrm>
          <a:prstGeom prst="rect">
            <a:avLst/>
          </a:prstGeom>
          <a:solidFill>
            <a:srgbClr val="66D9A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20"/>
          <p:cNvSpPr/>
          <p:nvPr/>
        </p:nvSpPr>
        <p:spPr>
          <a:xfrm>
            <a:off x="4023360" y="48280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lib/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023360" y="51937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gigachat · parse · pii · rag · prompt · export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98280" y="2194560"/>
            <a:ext cx="2423160" cy="1417320"/>
          </a:xfrm>
          <a:prstGeom prst="rect">
            <a:avLst/>
          </a:prstGeom>
          <a:solidFill>
            <a:srgbClr val="FFFFFF"/>
          </a:solidFill>
          <a:ln w="16510">
            <a:solidFill>
              <a:srgbClr val="21A66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6" name="Shape 23"/>
          <p:cNvSpPr/>
          <p:nvPr/>
        </p:nvSpPr>
        <p:spPr>
          <a:xfrm>
            <a:off x="9326880" y="2395728"/>
            <a:ext cx="457200" cy="457200"/>
          </a:xfrm>
          <a:prstGeom prst="ellipse">
            <a:avLst/>
          </a:prstGeom>
          <a:solidFill>
            <a:srgbClr val="21A66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>
            <a:biLevel thresh="50000"/>
          </a:blip>
          <a:stretch>
            <a:fillRect/>
          </a:stretch>
        </p:blipFill>
        <p:spPr>
          <a:xfrm>
            <a:off x="9445752" y="2514600"/>
            <a:ext cx="219456" cy="219456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9921240" y="239572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GigaChat API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9326880" y="292608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+ EmbeddingsGigaR (2560d) · внешний, локальных моделей нет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9098280" y="4160520"/>
            <a:ext cx="2423160" cy="1417320"/>
          </a:xfrm>
          <a:prstGeom prst="rect">
            <a:avLst/>
          </a:prstGeom>
          <a:solidFill>
            <a:srgbClr val="FFFFFF"/>
          </a:solidFill>
          <a:ln w="16510">
            <a:solidFill>
              <a:srgbClr val="21A66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Shape 27"/>
          <p:cNvSpPr/>
          <p:nvPr/>
        </p:nvSpPr>
        <p:spPr>
          <a:xfrm>
            <a:off x="9326880" y="4361688"/>
            <a:ext cx="457200" cy="457200"/>
          </a:xfrm>
          <a:prstGeom prst="ellipse">
            <a:avLst/>
          </a:prstGeom>
          <a:solidFill>
            <a:srgbClr val="21A66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>
            <a:biLevel thresh="50000"/>
          </a:blip>
          <a:stretch>
            <a:fillRect/>
          </a:stretch>
        </p:blipFill>
        <p:spPr>
          <a:xfrm>
            <a:off x="9445752" y="4480560"/>
            <a:ext cx="219456" cy="219456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9921240" y="436168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PostgreSQL 16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9326880" y="489204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pgvector · сценарии · планы · календарь · RAG · лайки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2926080" y="3520440"/>
            <a:ext cx="685800" cy="0"/>
          </a:xfrm>
          <a:prstGeom prst="line">
            <a:avLst/>
          </a:prstGeom>
          <a:noFill/>
          <a:ln w="25400">
            <a:solidFill>
              <a:srgbClr val="21A663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36" name="Text 31"/>
          <p:cNvSpPr/>
          <p:nvPr/>
        </p:nvSpPr>
        <p:spPr>
          <a:xfrm>
            <a:off x="2788920" y="315468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SSE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8046720" y="2880360"/>
            <a:ext cx="1051560" cy="0"/>
          </a:xfrm>
          <a:prstGeom prst="line">
            <a:avLst/>
          </a:prstGeom>
          <a:noFill/>
          <a:ln w="25400">
            <a:solidFill>
              <a:srgbClr val="21A663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38" name="Text 33"/>
          <p:cNvSpPr/>
          <p:nvPr/>
        </p:nvSpPr>
        <p:spPr>
          <a:xfrm>
            <a:off x="7788040" y="25420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промпты / эмбеддинги</a:t>
            </a:r>
            <a:endParaRPr lang="en-US" sz="800" dirty="0"/>
          </a:p>
        </p:txBody>
      </p:sp>
      <p:sp>
        <p:nvSpPr>
          <p:cNvPr id="39" name="Shape 34"/>
          <p:cNvSpPr/>
          <p:nvPr/>
        </p:nvSpPr>
        <p:spPr>
          <a:xfrm>
            <a:off x="8046720" y="4846320"/>
            <a:ext cx="1051560" cy="0"/>
          </a:xfrm>
          <a:prstGeom prst="line">
            <a:avLst/>
          </a:prstGeom>
          <a:noFill/>
          <a:ln w="25400">
            <a:solidFill>
              <a:srgbClr val="21A663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40" name="Text 35"/>
          <p:cNvSpPr/>
          <p:nvPr/>
        </p:nvSpPr>
        <p:spPr>
          <a:xfrm>
            <a:off x="7818120" y="44988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(WHERE user_id)</a:t>
            </a:r>
            <a:endParaRPr lang="en-US" sz="800" dirty="0"/>
          </a:p>
        </p:txBody>
      </p:sp>
      <p:sp>
        <p:nvSpPr>
          <p:cNvPr id="41" name="Shape 36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solidFill>
            <a:srgbClr val="F8F9F7"/>
          </a:solidFill>
          <a:ln w="12700">
            <a:solidFill>
              <a:srgbClr val="21A66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2" name="Text 37"/>
          <p:cNvSpPr/>
          <p:nvPr/>
        </p:nvSpPr>
        <p:spPr>
          <a:xfrm>
            <a:off x="868680" y="6126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Защита: </a:t>
            </a: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PII-анонимизация ДО любого вызова GigaChat · rate-limit на пользователя · строгая изоляция данных по user_id · TLS-сертификаты Минцифры РФ</a:t>
            </a:r>
            <a:endParaRPr lang="en-US" sz="1150" dirty="0"/>
          </a:p>
        </p:txBody>
      </p:sp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53ACC201-E623-9B3A-6D4A-8ACC8B8C3DBB}"/>
              </a:ext>
            </a:extLst>
          </p:cNvPr>
          <p:cNvPicPr>
            <a:picLocks noChangeAspect="1"/>
          </p:cNvPicPr>
          <p:nvPr/>
        </p:nvPicPr>
        <p:blipFill>
          <a:blip>
            <a:alphaModFix amt="42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8523" y="6161026"/>
            <a:ext cx="367385" cy="433827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4ED8AC0C-704B-6DCB-0BB7-74ECE8BFD58E}"/>
              </a:ext>
            </a:extLst>
          </p:cNvPr>
          <p:cNvPicPr>
            <a:picLocks noChangeAspect="1"/>
          </p:cNvPicPr>
          <p:nvPr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86096" y="133101"/>
            <a:ext cx="367385" cy="4338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310896"/>
          </a:xfrm>
          <a:prstGeom prst="rect">
            <a:avLst/>
          </a:prstGeom>
          <a:solidFill>
            <a:srgbClr val="F5B8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060704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ПАЙПЛАЙН ГЕНЕРАЦИИ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 рождается сценарий: генерация по блокам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881360" cy="749808"/>
          </a:xfrm>
          <a:prstGeom prst="rect">
            <a:avLst/>
          </a:prstGeom>
          <a:solidFill>
            <a:srgbClr val="09352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868680" y="1737360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Инсайт: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«насыщает» ~800 токенов за один вызов — один запрос даёт «простыню» ~5 КБ. </a:t>
            </a:r>
            <a:r>
              <a:rPr lang="en-US" sz="125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Методичка «Разговоры о важном» = 9–11 плотных блоков. Значит генерируем ПО ОДНОМУ БЛОКУ за вызов — объём масштабируется числом блоков, а не «уговорами» модели.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724912"/>
            <a:ext cx="2606040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640080" y="2724912"/>
            <a:ext cx="2606040" cy="109728"/>
          </a:xfrm>
          <a:prstGeom prst="rect">
            <a:avLst/>
          </a:prstGeom>
          <a:solidFill>
            <a:srgbClr val="21A66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822960" y="2999232"/>
            <a:ext cx="502920" cy="502920"/>
          </a:xfrm>
          <a:prstGeom prst="ellipse">
            <a:avLst/>
          </a:prstGeom>
          <a:solidFill>
            <a:srgbClr val="09352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" y="3129991"/>
            <a:ext cx="241402" cy="24140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17320" y="2962656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Каркас + контент-план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68680" y="3639312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Цели, ценности, основные смыслы и список блоков {тип · фокус} по этапам. Смыслы заранее распределены — без повторов.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246120" y="36118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A663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3429000" y="2724912"/>
            <a:ext cx="2606040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Shape 12"/>
          <p:cNvSpPr/>
          <p:nvPr/>
        </p:nvSpPr>
        <p:spPr>
          <a:xfrm>
            <a:off x="3429000" y="2724912"/>
            <a:ext cx="2606040" cy="109728"/>
          </a:xfrm>
          <a:prstGeom prst="rect">
            <a:avLst/>
          </a:prstGeom>
          <a:solidFill>
            <a:srgbClr val="21A66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Shape 13"/>
          <p:cNvSpPr/>
          <p:nvPr/>
        </p:nvSpPr>
        <p:spPr>
          <a:xfrm>
            <a:off x="3611880" y="2999232"/>
            <a:ext cx="502920" cy="502920"/>
          </a:xfrm>
          <a:prstGeom prst="ellipse">
            <a:avLst/>
          </a:prstGeom>
          <a:solidFill>
            <a:srgbClr val="09352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2639" y="3129991"/>
            <a:ext cx="241402" cy="24140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206240" y="2962656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Блоки по очереди (×N)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3657600" y="3639312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блок — отдельный фокусный вызов с RAG-опорой. В следующий вызов передаём сводку готовых блоков — связность и преемственность хода.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035040" y="36118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A663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6217920" y="2724912"/>
            <a:ext cx="2606040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2" name="Shape 18"/>
          <p:cNvSpPr/>
          <p:nvPr/>
        </p:nvSpPr>
        <p:spPr>
          <a:xfrm>
            <a:off x="6217920" y="2724912"/>
            <a:ext cx="2606040" cy="109728"/>
          </a:xfrm>
          <a:prstGeom prst="rect">
            <a:avLst/>
          </a:prstGeom>
          <a:solidFill>
            <a:srgbClr val="21A66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Shape 19"/>
          <p:cNvSpPr/>
          <p:nvPr/>
        </p:nvSpPr>
        <p:spPr>
          <a:xfrm>
            <a:off x="6400800" y="2999232"/>
            <a:ext cx="502920" cy="502920"/>
          </a:xfrm>
          <a:prstGeom prst="ellipse">
            <a:avLst/>
          </a:prstGeom>
          <a:solidFill>
            <a:srgbClr val="09352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1559" y="3129991"/>
            <a:ext cx="241402" cy="24140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995160" y="2962656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Гейт качества (без ИИ)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6446520" y="3639312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длины, многоходовости «Учитель: …», числа вопросов. Тонкий блок автоматически переписывается.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8823960" y="36118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A663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9006840" y="2724912"/>
            <a:ext cx="2606040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Shape 24"/>
          <p:cNvSpPr/>
          <p:nvPr/>
        </p:nvSpPr>
        <p:spPr>
          <a:xfrm>
            <a:off x="9006840" y="2724912"/>
            <a:ext cx="2606040" cy="109728"/>
          </a:xfrm>
          <a:prstGeom prst="rect">
            <a:avLst/>
          </a:prstGeom>
          <a:solidFill>
            <a:srgbClr val="21A66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0" name="Shape 25"/>
          <p:cNvSpPr/>
          <p:nvPr/>
        </p:nvSpPr>
        <p:spPr>
          <a:xfrm>
            <a:off x="9189720" y="2999232"/>
            <a:ext cx="502920" cy="502920"/>
          </a:xfrm>
          <a:prstGeom prst="ellipse">
            <a:avLst/>
          </a:prstGeom>
          <a:solidFill>
            <a:srgbClr val="09352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0479" y="3129991"/>
            <a:ext cx="241402" cy="24140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784080" y="2962656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· Сборка и сохранение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9235440" y="3639312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Соединение блоков → нормализация хронометража → zod-валидация → запись с изоляцией по user_id.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640080" y="5074920"/>
            <a:ext cx="3474720" cy="1280160"/>
          </a:xfrm>
          <a:prstGeom prst="rect">
            <a:avLst/>
          </a:prstGeom>
          <a:solidFill>
            <a:srgbClr val="F8F9F7"/>
          </a:solidFill>
          <a:ln w="16510">
            <a:solidFill>
              <a:srgbClr val="21A66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Text 29"/>
          <p:cNvSpPr/>
          <p:nvPr/>
        </p:nvSpPr>
        <p:spPr>
          <a:xfrm>
            <a:off x="868680" y="513892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A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14,6 КБ</a:t>
            </a:r>
            <a:endParaRPr lang="en-US" sz="2700" dirty="0"/>
          </a:p>
        </p:txBody>
      </p:sp>
      <p:sp>
        <p:nvSpPr>
          <p:cNvPr id="36" name="Text 30"/>
          <p:cNvSpPr/>
          <p:nvPr/>
        </p:nvSpPr>
        <p:spPr>
          <a:xfrm>
            <a:off x="868680" y="574243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сценария — ≈ в 3 раза больше прежнего (~5 КБ)</a:t>
            </a:r>
            <a:endParaRPr lang="en-US" sz="1150" dirty="0"/>
          </a:p>
        </p:txBody>
      </p:sp>
      <p:sp>
        <p:nvSpPr>
          <p:cNvPr id="37" name="Shape 31"/>
          <p:cNvSpPr/>
          <p:nvPr/>
        </p:nvSpPr>
        <p:spPr>
          <a:xfrm>
            <a:off x="4343400" y="5074920"/>
            <a:ext cx="3474720" cy="1280160"/>
          </a:xfrm>
          <a:prstGeom prst="rect">
            <a:avLst/>
          </a:prstGeom>
          <a:solidFill>
            <a:srgbClr val="F8F9F7"/>
          </a:solidFill>
          <a:ln w="16510">
            <a:solidFill>
              <a:srgbClr val="21A66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8" name="Text 32"/>
          <p:cNvSpPr/>
          <p:nvPr/>
        </p:nvSpPr>
        <p:spPr>
          <a:xfrm>
            <a:off x="4572000" y="513892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A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РоВ-уровень</a:t>
            </a:r>
            <a:endParaRPr lang="en-US" sz="2200" dirty="0"/>
          </a:p>
        </p:txBody>
      </p:sp>
      <p:sp>
        <p:nvSpPr>
          <p:cNvPr id="39" name="Text 33"/>
          <p:cNvSpPr/>
          <p:nvPr/>
        </p:nvSpPr>
        <p:spPr>
          <a:xfrm>
            <a:off x="4572000" y="574243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многоходовой ход «Учитель: …» с конкретикой и вопросами</a:t>
            </a:r>
            <a:endParaRPr lang="en-US" sz="1150" dirty="0"/>
          </a:p>
        </p:txBody>
      </p:sp>
      <p:sp>
        <p:nvSpPr>
          <p:cNvPr id="40" name="Shape 34"/>
          <p:cNvSpPr/>
          <p:nvPr/>
        </p:nvSpPr>
        <p:spPr>
          <a:xfrm>
            <a:off x="8046720" y="5074920"/>
            <a:ext cx="3474720" cy="1280160"/>
          </a:xfrm>
          <a:prstGeom prst="rect">
            <a:avLst/>
          </a:prstGeom>
          <a:solidFill>
            <a:srgbClr val="F8F9F7"/>
          </a:solidFill>
          <a:ln w="16510">
            <a:solidFill>
              <a:srgbClr val="21A66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1" name="Text 35"/>
          <p:cNvSpPr/>
          <p:nvPr/>
        </p:nvSpPr>
        <p:spPr>
          <a:xfrm>
            <a:off x="8275320" y="513892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A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~45 сек</a:t>
            </a:r>
            <a:endParaRPr lang="en-US" sz="2700" dirty="0"/>
          </a:p>
        </p:txBody>
      </p:sp>
      <p:sp>
        <p:nvSpPr>
          <p:cNvPr id="42" name="Text 36"/>
          <p:cNvSpPr/>
          <p:nvPr/>
        </p:nvSpPr>
        <p:spPr>
          <a:xfrm>
            <a:off x="8275320" y="574243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живой замер на GigaChat · 0 «тонких» блоков</a:t>
            </a:r>
            <a:endParaRPr lang="en-US" sz="1150" dirty="0"/>
          </a:p>
        </p:txBody>
      </p:sp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3689509F-F45C-6509-2A1C-EE8EE6F891A4}"/>
              </a:ext>
            </a:extLst>
          </p:cNvPr>
          <p:cNvPicPr>
            <a:picLocks noChangeAspect="1"/>
          </p:cNvPicPr>
          <p:nvPr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686096" y="133101"/>
            <a:ext cx="367385" cy="4338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310896"/>
          </a:xfrm>
          <a:prstGeom prst="rect">
            <a:avLst/>
          </a:prstGeom>
          <a:solidFill>
            <a:srgbClr val="F5B8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060704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MVP · ДЕМО-ПУТЬ 1/2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Контекст → </a:t>
            </a:r>
            <a:r>
              <a:rPr lang="en-US" sz="3200" b="1" dirty="0" err="1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стрим</a:t>
            </a:r>
            <a:r>
              <a:rPr lang="en-US" sz="32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200" b="1" dirty="0" err="1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генерации</a:t>
            </a:r>
            <a:r>
              <a:rPr lang="ru-RU" sz="32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2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</a:t>
            </a:r>
            <a:r>
              <a:rPr lang="en-US" sz="3200" b="1" dirty="0" err="1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Редактор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311091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6" name="Image 0"/>
          <p:cNvPicPr>
            <a:picLocks noChangeAspect="1"/>
          </p:cNvPicPr>
          <p:nvPr/>
        </p:nvPicPr>
        <p:blipFill>
          <a:blip r:embed="rId3"/>
          <a:srcRect l="5487" r="8185"/>
          <a:stretch>
            <a:fillRect/>
          </a:stretch>
        </p:blipFill>
        <p:spPr>
          <a:xfrm>
            <a:off x="596766" y="1965960"/>
            <a:ext cx="3108960" cy="3108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5166360"/>
            <a:ext cx="3311091" cy="411480"/>
          </a:xfrm>
          <a:prstGeom prst="rect">
            <a:avLst/>
          </a:prstGeom>
          <a:solidFill>
            <a:srgbClr val="0E4F3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667512" y="5166360"/>
            <a:ext cx="30382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Форма контекста — тема, класс, формат, длительность</a:t>
            </a:r>
            <a:endParaRPr lang="en-US" sz="1300" dirty="0"/>
          </a:p>
        </p:txBody>
      </p: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E1B25EDC-7182-6CC7-A994-061C198C7A1A}"/>
              </a:ext>
            </a:extLst>
          </p:cNvPr>
          <p:cNvGrpSpPr/>
          <p:nvPr/>
        </p:nvGrpSpPr>
        <p:grpSpPr>
          <a:xfrm>
            <a:off x="4425214" y="1874520"/>
            <a:ext cx="3311092" cy="3703320"/>
            <a:chOff x="3907858" y="1874520"/>
            <a:chExt cx="3311092" cy="3703320"/>
          </a:xfrm>
        </p:grpSpPr>
        <p:sp>
          <p:nvSpPr>
            <p:cNvPr id="9" name="Shape 6"/>
            <p:cNvSpPr/>
            <p:nvPr/>
          </p:nvSpPr>
          <p:spPr>
            <a:xfrm>
              <a:off x="3907858" y="1874520"/>
              <a:ext cx="3311092" cy="37033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4E6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ru-RU"/>
            </a:p>
          </p:txBody>
        </p:sp>
        <p:pic>
          <p:nvPicPr>
            <p:cNvPr id="10" name="Image 1"/>
            <p:cNvPicPr>
              <a:picLocks noChangeAspect="1"/>
            </p:cNvPicPr>
            <p:nvPr/>
          </p:nvPicPr>
          <p:blipFill>
            <a:blip r:embed="rId4"/>
            <a:srcRect l="6978" r="7749"/>
            <a:stretch>
              <a:fillRect/>
            </a:stretch>
          </p:blipFill>
          <p:spPr>
            <a:xfrm>
              <a:off x="3981725" y="1965960"/>
              <a:ext cx="3140242" cy="3108960"/>
            </a:xfrm>
            <a:prstGeom prst="rect">
              <a:avLst/>
            </a:prstGeom>
          </p:spPr>
        </p:pic>
        <p:sp>
          <p:nvSpPr>
            <p:cNvPr id="11" name="Shape 7"/>
            <p:cNvSpPr/>
            <p:nvPr/>
          </p:nvSpPr>
          <p:spPr>
            <a:xfrm>
              <a:off x="3910024" y="5166360"/>
              <a:ext cx="3308926" cy="411480"/>
            </a:xfrm>
            <a:prstGeom prst="rect">
              <a:avLst/>
            </a:prstGeom>
            <a:solidFill>
              <a:srgbClr val="0E4F30"/>
            </a:solidFill>
            <a:ln/>
          </p:spPr>
          <p:txBody>
            <a:bodyPr/>
            <a:lstStyle/>
            <a:p>
              <a:endParaRPr lang="ru-RU"/>
            </a:p>
          </p:txBody>
        </p:sp>
        <p:sp>
          <p:nvSpPr>
            <p:cNvPr id="12" name="Text 8"/>
            <p:cNvSpPr/>
            <p:nvPr/>
          </p:nvSpPr>
          <p:spPr>
            <a:xfrm>
              <a:off x="3978604" y="5166360"/>
              <a:ext cx="3143364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2. Стрим: фазы и каркас </a:t>
              </a:r>
              <a:r>
                <a:rPr lang="en-US" sz="1300" b="1" dirty="0" err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этапов</a:t>
              </a: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br>
                <a:rPr lang="ru-RU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в реальном времени</a:t>
              </a:r>
              <a:endParaRPr lang="en-US" sz="1300" dirty="0"/>
            </a:p>
          </p:txBody>
        </p:sp>
      </p:grpSp>
      <p:sp>
        <p:nvSpPr>
          <p:cNvPr id="13" name="Shape 9"/>
          <p:cNvSpPr/>
          <p:nvPr/>
        </p:nvSpPr>
        <p:spPr>
          <a:xfrm>
            <a:off x="502920" y="5760720"/>
            <a:ext cx="11155680" cy="868680"/>
          </a:xfrm>
          <a:prstGeom prst="rect">
            <a:avLst/>
          </a:prstGeom>
          <a:solidFill>
            <a:srgbClr val="F8F9F7"/>
          </a:solidFill>
          <a:ln w="15240">
            <a:solidFill>
              <a:srgbClr val="21A66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0"/>
          <p:cNvSpPr/>
          <p:nvPr/>
        </p:nvSpPr>
        <p:spPr>
          <a:xfrm>
            <a:off x="685800" y="5852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A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уже работает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77240" y="621792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✓"/>
            </a:pPr>
            <a:r>
              <a:rPr lang="en-US" sz="10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по блокам РоВ-уровня в 8 форматах · опора на методички (RAG) · pre-match по библиотеке</a:t>
            </a:r>
            <a:endParaRPr lang="en-US" sz="1050" dirty="0"/>
          </a:p>
          <a:p>
            <a:pPr marL="342900" indent="-342900">
              <a:buSzPct val="100000"/>
              <a:buChar char="✓"/>
            </a:pPr>
            <a:r>
              <a:rPr lang="en-US" sz="10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плана и своего материала (PDF/DOCX/PPTX/TXT) · локальная анонимизация ПДн</a:t>
            </a:r>
            <a:endParaRPr lang="en-US" sz="1050" dirty="0"/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F198844E-40CC-5413-563D-B875BF49CED7}"/>
              </a:ext>
            </a:extLst>
          </p:cNvPr>
          <p:cNvGrpSpPr/>
          <p:nvPr/>
        </p:nvGrpSpPr>
        <p:grpSpPr>
          <a:xfrm>
            <a:off x="8281339" y="1874520"/>
            <a:ext cx="3377261" cy="3707130"/>
            <a:chOff x="7312797" y="1874520"/>
            <a:chExt cx="3377261" cy="3707130"/>
          </a:xfrm>
        </p:grpSpPr>
        <p:sp>
          <p:nvSpPr>
            <p:cNvPr id="16" name="Shape 3">
              <a:extLst>
                <a:ext uri="{FF2B5EF4-FFF2-40B4-BE49-F238E27FC236}">
                  <a16:creationId xmlns:a16="http://schemas.microsoft.com/office/drawing/2014/main" id="{74B8FF0E-FFBD-D601-9B46-319CE1F6232B}"/>
                </a:ext>
              </a:extLst>
            </p:cNvPr>
            <p:cNvSpPr/>
            <p:nvPr/>
          </p:nvSpPr>
          <p:spPr>
            <a:xfrm>
              <a:off x="7312797" y="1874520"/>
              <a:ext cx="3377261" cy="37033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4E6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ru-RU"/>
            </a:p>
          </p:txBody>
        </p:sp>
        <p:pic>
          <p:nvPicPr>
            <p:cNvPr id="17" name="Image 0">
              <a:extLst>
                <a:ext uri="{FF2B5EF4-FFF2-40B4-BE49-F238E27FC236}">
                  <a16:creationId xmlns:a16="http://schemas.microsoft.com/office/drawing/2014/main" id="{2CB59AD8-FD79-05FE-666A-77BA2AB4693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5763" r="7671"/>
            <a:stretch>
              <a:fillRect/>
            </a:stretch>
          </p:blipFill>
          <p:spPr>
            <a:xfrm>
              <a:off x="7402561" y="1965960"/>
              <a:ext cx="3187880" cy="3108960"/>
            </a:xfrm>
            <a:prstGeom prst="rect">
              <a:avLst/>
            </a:prstGeom>
          </p:spPr>
        </p:pic>
        <p:sp>
          <p:nvSpPr>
            <p:cNvPr id="18" name="Shape 4">
              <a:extLst>
                <a:ext uri="{FF2B5EF4-FFF2-40B4-BE49-F238E27FC236}">
                  <a16:creationId xmlns:a16="http://schemas.microsoft.com/office/drawing/2014/main" id="{19C5F150-AF34-E1DE-843F-CB061F6822A1}"/>
                </a:ext>
              </a:extLst>
            </p:cNvPr>
            <p:cNvSpPr/>
            <p:nvPr/>
          </p:nvSpPr>
          <p:spPr>
            <a:xfrm>
              <a:off x="7312797" y="5170170"/>
              <a:ext cx="3377261" cy="411480"/>
            </a:xfrm>
            <a:prstGeom prst="rect">
              <a:avLst/>
            </a:prstGeom>
            <a:solidFill>
              <a:srgbClr val="0E4F30"/>
            </a:solidFill>
            <a:ln/>
          </p:spPr>
          <p:txBody>
            <a:bodyPr/>
            <a:lstStyle/>
            <a:p>
              <a:endParaRPr lang="ru-RU"/>
            </a:p>
          </p:txBody>
        </p:sp>
        <p:sp>
          <p:nvSpPr>
            <p:cNvPr id="19" name="Text 5">
              <a:extLst>
                <a:ext uri="{FF2B5EF4-FFF2-40B4-BE49-F238E27FC236}">
                  <a16:creationId xmlns:a16="http://schemas.microsoft.com/office/drawing/2014/main" id="{3F664FB2-8275-CDAE-3ED1-D8D9B2E6A3F3}"/>
                </a:ext>
              </a:extLst>
            </p:cNvPr>
            <p:cNvSpPr/>
            <p:nvPr/>
          </p:nvSpPr>
          <p:spPr>
            <a:xfrm>
              <a:off x="7421082" y="5170170"/>
              <a:ext cx="31878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3. Редактор: ↑↓ reorder · </a:t>
              </a:r>
              <a:br>
                <a:rPr lang="ru-RU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🎲 регенерация · add/del · история</a:t>
              </a:r>
              <a:endParaRPr lang="en-US" sz="1300" dirty="0"/>
            </a:p>
          </p:txBody>
        </p:sp>
      </p:grp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02EE444D-7EEB-0F81-42F1-7C21C9F25EC4}"/>
              </a:ext>
            </a:extLst>
          </p:cNvPr>
          <p:cNvPicPr>
            <a:picLocks noChangeAspect="1"/>
          </p:cNvPicPr>
          <p:nvPr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86096" y="133101"/>
            <a:ext cx="367385" cy="4338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310896"/>
          </a:xfrm>
          <a:prstGeom prst="rect">
            <a:avLst/>
          </a:prstGeom>
          <a:solidFill>
            <a:srgbClr val="F5B8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060704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kern="0" spc="200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MVP · ДЕМО-ПУТЬ </a:t>
            </a:r>
            <a:r>
              <a:rPr lang="ru-RU" sz="1300" b="1" kern="0" spc="200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b="1" kern="0" spc="200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Рабочая версия: полный путь без заглушек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94360" y="4245864"/>
            <a:ext cx="11155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757589" y="4245864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A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уже работает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03308" y="4642904"/>
            <a:ext cx="10809571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по блокам РоВ-уровня во всех 8 форматах (классный час, квиз, дебаты, киноклуб, проектная сессия…)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плана и своего материала (PDF/DOCX/PPTX/TXT) как основы сценария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Редактор: добавление/удаление и reorder этапов ↑/↓, точечная регенерация с выбором типа, история версий с откатом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Полноэкранный режим показа на проекторе + календарь-сетка с привязкой к дате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Библиотека сообщества + семантический поиск, оценка сценария 👍/👎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Фирменный экспорт PDF (с QR) и DOCX · шаринг по ссылке · страница «Что нового»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Админ-панель статистики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09360" y="1795272"/>
            <a:ext cx="2606040" cy="1783080"/>
          </a:xfrm>
          <a:prstGeom prst="rect">
            <a:avLst/>
          </a:prstGeom>
          <a:solidFill>
            <a:srgbClr val="09352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6492240" y="19324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Ресурсы MVP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37960" y="2343912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VPS · 2 vCPU / 4 ГБ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GigaChat API (PERS)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Дёшево в эксплуатации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144000" y="1795272"/>
            <a:ext cx="2606040" cy="1783080"/>
          </a:xfrm>
          <a:prstGeom prst="rect">
            <a:avLst/>
          </a:prstGeom>
          <a:solidFill>
            <a:srgbClr val="F8F9F7"/>
          </a:solidFill>
          <a:ln w="16510">
            <a:solidFill>
              <a:srgbClr val="21A66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9326880" y="19324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A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Развитие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372600" y="2343912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эл. журналами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Модерация контента методистами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Мульти-школьные тенанты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вовлечённости</a:t>
            </a:r>
            <a:endParaRPr lang="en-US" sz="1150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5E65CF2A-A547-9EA5-E43B-B8D50DED107A}"/>
              </a:ext>
            </a:extLst>
          </p:cNvPr>
          <p:cNvPicPr>
            <a:picLocks noChangeAspect="1"/>
          </p:cNvPicPr>
          <p:nvPr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6096" y="133101"/>
            <a:ext cx="367385" cy="433827"/>
          </a:xfrm>
          <a:prstGeom prst="rect">
            <a:avLst/>
          </a:prstGeom>
        </p:spPr>
      </p:pic>
      <p:sp>
        <p:nvSpPr>
          <p:cNvPr id="35" name="Shape 6"/>
          <p:cNvSpPr/>
          <p:nvPr/>
        </p:nvSpPr>
        <p:spPr>
          <a:xfrm>
            <a:off x="594360" y="1783080"/>
            <a:ext cx="5532120" cy="2325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36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1900942"/>
            <a:ext cx="5349240" cy="1733798"/>
          </a:xfrm>
          <a:prstGeom prst="rect">
            <a:avLst/>
          </a:prstGeom>
        </p:spPr>
      </p:pic>
      <p:sp>
        <p:nvSpPr>
          <p:cNvPr id="37" name="Shape 7"/>
          <p:cNvSpPr/>
          <p:nvPr/>
        </p:nvSpPr>
        <p:spPr>
          <a:xfrm>
            <a:off x="594360" y="3697224"/>
            <a:ext cx="5532120" cy="411480"/>
          </a:xfrm>
          <a:prstGeom prst="rect">
            <a:avLst/>
          </a:prstGeom>
          <a:solidFill>
            <a:srgbClr val="0E4F30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38" name="Text 8"/>
          <p:cNvSpPr/>
          <p:nvPr/>
        </p:nvSpPr>
        <p:spPr>
          <a:xfrm>
            <a:off x="640080" y="3697224"/>
            <a:ext cx="5202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Экспорт: PDF · DOCX · режим показа · персональная ссылка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310896"/>
          </a:xfrm>
          <a:prstGeom prst="rect">
            <a:avLst/>
          </a:prstGeom>
          <a:solidFill>
            <a:srgbClr val="F5B8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060704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ДОРОЖНАЯ КАРТА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 MVP к масштабу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60704" y="2468880"/>
            <a:ext cx="10186416" cy="0"/>
          </a:xfrm>
          <a:prstGeom prst="line">
            <a:avLst/>
          </a:prstGeom>
          <a:noFill/>
          <a:ln w="25400">
            <a:solidFill>
              <a:srgbClr val="E4E6E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960120" y="2286000"/>
            <a:ext cx="365760" cy="365760"/>
          </a:xfrm>
          <a:prstGeom prst="ellipse">
            <a:avLst/>
          </a:prstGeom>
          <a:solidFill>
            <a:srgbClr val="21A66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96012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26060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2606040" cy="109728"/>
          </a:xfrm>
          <a:prstGeom prst="rect">
            <a:avLst/>
          </a:prstGeom>
          <a:solidFill>
            <a:srgbClr val="21A66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841248" y="312724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Развёрнуто на проде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65760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+ RAG-корпус методичек РоВ · домен plan-wise.ru + HTTPS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· библиотека наполнена · порог откалиброван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46120" y="39319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A663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749040" y="2286000"/>
            <a:ext cx="365760" cy="365760"/>
          </a:xfrm>
          <a:prstGeom prst="ellipse">
            <a:avLst/>
          </a:prstGeom>
          <a:solidFill>
            <a:srgbClr val="F5B8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374904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29000" y="2926080"/>
            <a:ext cx="26060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3429000" y="2926080"/>
            <a:ext cx="2606040" cy="109728"/>
          </a:xfrm>
          <a:prstGeom prst="rect">
            <a:avLst/>
          </a:prstGeom>
          <a:solidFill>
            <a:srgbClr val="F5B8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3630168" y="312724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Перед демо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57600" y="365760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Живой UAT golden-path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Скринкаст 5–7 мин + презентация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35040" y="39319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A663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537960" y="2286000"/>
            <a:ext cx="365760" cy="365760"/>
          </a:xfrm>
          <a:prstGeom prst="ellipse">
            <a:avLst/>
          </a:prstGeom>
          <a:solidFill>
            <a:srgbClr val="2741E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653796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17920" y="2926080"/>
            <a:ext cx="26060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6217920" y="2926080"/>
            <a:ext cx="2606040" cy="109728"/>
          </a:xfrm>
          <a:prstGeom prst="rect">
            <a:avLst/>
          </a:prstGeom>
          <a:solidFill>
            <a:srgbClr val="2741E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6419088" y="312724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Пилот в школе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46520" y="365760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Обкатка с реальными классными руководителями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Модерация контента методистами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823960" y="39319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A663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326880" y="2286000"/>
            <a:ext cx="365760" cy="365760"/>
          </a:xfrm>
          <a:prstGeom prst="ellipse">
            <a:avLst/>
          </a:prstGeom>
          <a:solidFill>
            <a:srgbClr val="09352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932688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006840" y="2926080"/>
            <a:ext cx="26060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0" name="Shape 28"/>
          <p:cNvSpPr/>
          <p:nvPr/>
        </p:nvSpPr>
        <p:spPr>
          <a:xfrm>
            <a:off x="9006840" y="2926080"/>
            <a:ext cx="2606040" cy="109728"/>
          </a:xfrm>
          <a:prstGeom prst="rect">
            <a:avLst/>
          </a:prstGeom>
          <a:solidFill>
            <a:srgbClr val="09352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/>
          <p:nvPr/>
        </p:nvSpPr>
        <p:spPr>
          <a:xfrm>
            <a:off x="9208008" y="312724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Масштаб B2B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235440" y="365760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Подписка для школ и управлений образования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Интеграции с журналами · аналитика воспитания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 здесь →  MVP полностью реализован, идём к пилоту</a:t>
            </a:r>
            <a:endParaRPr lang="en-US" sz="1400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8D791E0F-5DFC-498E-FDCC-8B07E3D27C5C}"/>
              </a:ext>
            </a:extLst>
          </p:cNvPr>
          <p:cNvPicPr>
            <a:picLocks noChangeAspect="1"/>
          </p:cNvPicPr>
          <p:nvPr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6096" y="133101"/>
            <a:ext cx="367385" cy="43382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310896"/>
          </a:xfrm>
          <a:prstGeom prst="rect">
            <a:avLst/>
          </a:prstGeom>
          <a:solidFill>
            <a:srgbClr val="F5B8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060704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РИСКИ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Риски и их нейтрализация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881360" cy="4535424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Риск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3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Нейтрализация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3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Статус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3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160F"/>
                          </a:solidFill>
                        </a:rPr>
                        <a:t>Утечка ПДн детей во внешний LLM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717670"/>
                          </a:solidFill>
                        </a:rPr>
                        <a:t>Локальная авто-анонимизация (regex + словари), явное согласие с логированием, повторный PII-чек перед шарингом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1A663"/>
                          </a:solidFill>
                        </a:rPr>
                        <a:t>реализовано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160F"/>
                          </a:solidFill>
                        </a:rPr>
                        <a:t>LLM выдаёт некорректный / неструктурный контент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717670"/>
                          </a:solidFill>
                        </a:rPr>
                        <a:t>Двухэтапный промпт, zod-валидация, repair-pass, авто-нормализация хронометража, RAG-опора на методички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1A663"/>
                          </a:solidFill>
                        </a:rPr>
                        <a:t>реализовано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160F"/>
                          </a:solidFill>
                        </a:rPr>
                        <a:t>Зависимость от GigaChat (доступность, лимиты)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717670"/>
                          </a:solidFill>
                        </a:rPr>
                        <a:t>Rate-limit, retry + refresh токена, кэш; библиотека сообщества снижает число генераций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1A663"/>
                          </a:solidFill>
                        </a:rPr>
                        <a:t>реализовано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160F"/>
                          </a:solidFill>
                        </a:rPr>
                        <a:t>Нагрузка на 4 ГБ RAM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717670"/>
                          </a:solidFill>
                        </a:rPr>
                        <a:t>Запрет локальных моделей, @react-pdf вместо headless Chrome, стриминг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1A663"/>
                          </a:solidFill>
                        </a:rPr>
                        <a:t>реализовано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160F"/>
                          </a:solidFill>
                        </a:rPr>
                        <a:t>Качество подбора похожих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717670"/>
                          </a:solidFill>
                        </a:rPr>
                        <a:t>Порог откалиброван (0.72) на наполненной библиотеке + RAG-корпус методичек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1A663"/>
                          </a:solidFill>
                        </a:rPr>
                        <a:t>реализовано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160F"/>
                          </a:solidFill>
                        </a:rPr>
                        <a:t>Доверие педагогов к ИИ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717670"/>
                          </a:solidFill>
                        </a:rPr>
                        <a:t>Человек в петле: полный редактор + версии + контроль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1A663"/>
                          </a:solidFill>
                        </a:rPr>
                        <a:t>реализовано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160F"/>
                          </a:solidFill>
                        </a:rPr>
                        <a:t>Безопасность прод-инфры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717670"/>
                          </a:solidFill>
                        </a:rPr>
                        <a:t>Docker Compose, nginx + HTTPS (Let's Encrypt), ufw, bind 127.0.0.1, ротация секретов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1A663"/>
                          </a:solidFill>
                        </a:rPr>
                        <a:t>реализовано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A8FB656-C830-E861-08AD-22C6605AD87D}"/>
              </a:ext>
            </a:extLst>
          </p:cNvPr>
          <p:cNvPicPr>
            <a:picLocks noChangeAspect="1"/>
          </p:cNvPicPr>
          <p:nvPr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6096" y="133101"/>
            <a:ext cx="367385" cy="43382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3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999744" y="450135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БИЗНЕС-ЭФФЕКТ И МОДЕЛЬ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10896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Почему это растёт само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474720" cy="1600200"/>
          </a:xfrm>
          <a:prstGeom prst="rect">
            <a:avLst/>
          </a:prstGeom>
          <a:solidFill>
            <a:srgbClr val="0E4F3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2 ч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экономии на каждом сценарии — время педагога возвращается детям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474720" cy="1600200"/>
          </a:xfrm>
          <a:prstGeom prst="rect">
            <a:avLst/>
          </a:prstGeom>
          <a:solidFill>
            <a:srgbClr val="0E4F3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4572000" y="21031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~40 тыс.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72000" y="28346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 РФ; «Разговоры о важном» — еженедельный обязательный формат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965960"/>
            <a:ext cx="3474720" cy="1600200"/>
          </a:xfrm>
          <a:prstGeom prst="rect">
            <a:avLst/>
          </a:prstGeom>
          <a:solidFill>
            <a:srgbClr val="0E4F3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8275320" y="21031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75320" y="28346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эффект: больше лайков → богаче библиотека → точнее RAG → выше ценность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38404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Модель монетизации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4297680"/>
            <a:ext cx="3474720" cy="1234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640080" y="4297680"/>
            <a:ext cx="3474720" cy="91440"/>
          </a:xfrm>
          <a:prstGeom prst="rect">
            <a:avLst/>
          </a:prstGeom>
          <a:solidFill>
            <a:srgbClr val="F5B8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868680" y="4434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— педагог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48920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лимит генераций в день, базовый функционал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43400" y="4297680"/>
            <a:ext cx="3474720" cy="1234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4343400" y="4297680"/>
            <a:ext cx="3474720" cy="91440"/>
          </a:xfrm>
          <a:prstGeom prst="rect">
            <a:avLst/>
          </a:prstGeom>
          <a:solidFill>
            <a:srgbClr val="F5B8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4572000" y="4434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Школа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0" y="48920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лимита, библиотека, статистика, модерация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46720" y="4297680"/>
            <a:ext cx="3474720" cy="1234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Shape 23"/>
          <p:cNvSpPr/>
          <p:nvPr/>
        </p:nvSpPr>
        <p:spPr>
          <a:xfrm>
            <a:off x="8046720" y="4297680"/>
            <a:ext cx="3474720" cy="91440"/>
          </a:xfrm>
          <a:prstGeom prst="rect">
            <a:avLst/>
          </a:prstGeom>
          <a:solidFill>
            <a:srgbClr val="F5B8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8275320" y="4434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Управление образования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75320" y="48920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мульти-школа, аналитика по направлениям воспитания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58064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6D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успеха: число сгенерированных сценариев · % дошедших до экспорта · доля переиспользования из библиотеки · retention педагогов</a:t>
            </a:r>
            <a:endParaRPr lang="en-US" sz="1300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DF126D9E-4C6C-46FD-4295-647B24C95FD9}"/>
              </a:ext>
            </a:extLst>
          </p:cNvPr>
          <p:cNvPicPr>
            <a:picLocks noChangeAspect="1"/>
          </p:cNvPicPr>
          <p:nvPr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6096" y="133101"/>
            <a:ext cx="367385" cy="433827"/>
          </a:xfrm>
          <a:prstGeom prst="rect">
            <a:avLst/>
          </a:prstGeom>
        </p:spPr>
      </p:pic>
      <p:sp>
        <p:nvSpPr>
          <p:cNvPr id="30" name="Shape 0">
            <a:extLst>
              <a:ext uri="{FF2B5EF4-FFF2-40B4-BE49-F238E27FC236}">
                <a16:creationId xmlns:a16="http://schemas.microsoft.com/office/drawing/2014/main" id="{177E7474-EEE6-B3D2-C52C-AA599FFADBC4}"/>
              </a:ext>
            </a:extLst>
          </p:cNvPr>
          <p:cNvSpPr/>
          <p:nvPr/>
        </p:nvSpPr>
        <p:spPr>
          <a:xfrm>
            <a:off x="640080" y="566928"/>
            <a:ext cx="310896" cy="310896"/>
          </a:xfrm>
          <a:prstGeom prst="rect">
            <a:avLst/>
          </a:prstGeom>
          <a:solidFill>
            <a:srgbClr val="F5B800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310896"/>
          </a:xfrm>
          <a:prstGeom prst="rect">
            <a:avLst/>
          </a:prstGeom>
          <a:solidFill>
            <a:srgbClr val="F5B8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060704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ДОПОЛНИТЕЛЬНО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Чем ещё хочется поделиться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4924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5349240" cy="109728"/>
          </a:xfrm>
          <a:prstGeom prst="rect">
            <a:avLst/>
          </a:prstGeom>
          <a:solidFill>
            <a:srgbClr val="21A66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868680" y="2194560"/>
            <a:ext cx="548640" cy="548640"/>
          </a:xfrm>
          <a:prstGeom prst="ellipse">
            <a:avLst/>
          </a:prstGeom>
          <a:solidFill>
            <a:srgbClr val="09352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" y="2337206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21945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Суверенность данных и развёртывание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2926080"/>
            <a:ext cx="48920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— БД, миграции и приложение одной командой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Переключаемая через env LLM (LLM_PROVIDER): GigaChat или локальная / OpenAI-совместимая (Ollama, LM Studio, vLLM)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детей могут не покидать контур школы — модель поднимается на своём железе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к GigaChat через вшитые сертификаты Минцифры РФ — без обхода проверки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580644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Публичный репозиторий: </a:t>
            </a:r>
            <a:r>
              <a:rPr lang="en-US" sz="1200" b="1" i="1" u="sng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github.com/Caspernik-dev/planwise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72200" y="1920240"/>
            <a:ext cx="534924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Shape 10"/>
          <p:cNvSpPr/>
          <p:nvPr/>
        </p:nvSpPr>
        <p:spPr>
          <a:xfrm>
            <a:off x="6172200" y="1920240"/>
            <a:ext cx="5349240" cy="109728"/>
          </a:xfrm>
          <a:prstGeom prst="rect">
            <a:avLst/>
          </a:prstGeom>
          <a:solidFill>
            <a:srgbClr val="F5B8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Shape 11"/>
          <p:cNvSpPr/>
          <p:nvPr/>
        </p:nvSpPr>
        <p:spPr>
          <a:xfrm>
            <a:off x="6400800" y="2194560"/>
            <a:ext cx="548640" cy="548640"/>
          </a:xfrm>
          <a:prstGeom prst="ellipse">
            <a:avLst/>
          </a:prstGeom>
          <a:solidFill>
            <a:srgbClr val="09352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3446" y="2337206"/>
            <a:ext cx="263347" cy="26334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86600" y="219456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Уроки и инсайты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446520" y="2926080"/>
            <a:ext cx="4892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по блокам дала объём ×3 (≈15 КБ, РоВ-уровень) — масштаб числом блоков, а не «уговорами» модели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Гейт качества без LLM-судьи: детерминированные проверки длины, многоходовости «Учитель: …» и числа вопросов — LLM-судья оказался ненадёжным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B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урок: статика и моки не ловят баги живой модели (пустой adaptations, формат «дебаты») — обязателен живой прогон</a:t>
            </a:r>
            <a:endParaRPr lang="en-US" sz="130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FE1E5AE0-D86C-7BDC-90B8-F9AB22480560}"/>
              </a:ext>
            </a:extLst>
          </p:cNvPr>
          <p:cNvPicPr>
            <a:picLocks noChangeAspect="1"/>
          </p:cNvPicPr>
          <p:nvPr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86096" y="133101"/>
            <a:ext cx="367385" cy="43382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310896"/>
          </a:xfrm>
          <a:prstGeom prst="rect">
            <a:avLst/>
          </a:prstGeom>
          <a:solidFill>
            <a:srgbClr val="F5B8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060704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1A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ЧТО ДАЛЬШЕ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 работе и в дорожной карте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1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Конкретные доработки из бэклога — что уже в работе и в ближайших спринтах после MVP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35204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3520440" cy="777240"/>
          </a:xfrm>
          <a:prstGeom prst="rect">
            <a:avLst/>
          </a:prstGeom>
          <a:solidFill>
            <a:srgbClr val="09352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841248" y="2304288"/>
            <a:ext cx="548640" cy="548640"/>
          </a:xfrm>
          <a:prstGeom prst="ellipse">
            <a:avLst/>
          </a:prstGeom>
          <a:solidFill>
            <a:srgbClr val="F5B8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94" y="2446934"/>
            <a:ext cx="263347" cy="26334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2212848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Продукт для учителя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3108960"/>
            <a:ext cx="31089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Кастомные инструкции — «стиль учителя» (тон, игровость, ОВЗ)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Адаптация сценария под другой класс / длительность одной кнопкой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Предпросмотр документа перед экспортом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Режим проведения с телефона + потоковый текст блока в реальном времени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плана картинкой (OCR) — фото с телефона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43400" y="2194560"/>
            <a:ext cx="35204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Shape 10"/>
          <p:cNvSpPr/>
          <p:nvPr/>
        </p:nvSpPr>
        <p:spPr>
          <a:xfrm>
            <a:off x="4343400" y="2194560"/>
            <a:ext cx="3520440" cy="777240"/>
          </a:xfrm>
          <a:prstGeom prst="rect">
            <a:avLst/>
          </a:prstGeom>
          <a:solidFill>
            <a:srgbClr val="0E4F3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Shape 11"/>
          <p:cNvSpPr/>
          <p:nvPr/>
        </p:nvSpPr>
        <p:spPr>
          <a:xfrm>
            <a:off x="4544568" y="2304288"/>
            <a:ext cx="548640" cy="548640"/>
          </a:xfrm>
          <a:prstGeom prst="ellipse">
            <a:avLst/>
          </a:prstGeom>
          <a:solidFill>
            <a:srgbClr val="F5B8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7214" y="2446934"/>
            <a:ext cx="263347" cy="26334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12080" y="2212848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Сообщество и обнаруживаемость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572000" y="3108960"/>
            <a:ext cx="31089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Комментарии и отзывы коллег под сценариями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Теги и «топ недели» в библиотеке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Модерация: «сообщить о проблеме» → admin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Личная аналитика педагога: сценарии, направления, динамика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Опц. публичные профили учителей (opt-in, репутация)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046720" y="2194560"/>
            <a:ext cx="35204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5"/>
          <p:cNvSpPr/>
          <p:nvPr/>
        </p:nvSpPr>
        <p:spPr>
          <a:xfrm>
            <a:off x="8046720" y="2194560"/>
            <a:ext cx="3520440" cy="777240"/>
          </a:xfrm>
          <a:prstGeom prst="rect">
            <a:avLst/>
          </a:prstGeom>
          <a:solidFill>
            <a:srgbClr val="09352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Shape 16"/>
          <p:cNvSpPr/>
          <p:nvPr/>
        </p:nvSpPr>
        <p:spPr>
          <a:xfrm>
            <a:off x="8247888" y="2304288"/>
            <a:ext cx="548640" cy="548640"/>
          </a:xfrm>
          <a:prstGeom prst="ellipse">
            <a:avLst/>
          </a:prstGeom>
          <a:solidFill>
            <a:srgbClr val="F5B8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0534" y="2446934"/>
            <a:ext cx="263347" cy="26334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915400" y="2212848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Масштаб и качество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275320" y="3108960"/>
            <a:ext cx="31089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Очередь + семафор к GigaChat — под рост тарифной концурентности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 качества генерации (тонкие блоки, предупреждения)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Кеш эмбеддингов популярных тем — экономия токенов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 завучу: XLSX-выгрузка по проведённым занятиям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Атомарный rate-limit + worker-thread для PDF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1789</Words>
  <Application>Microsoft Office PowerPoint</Application>
  <PresentationFormat>Широкоэкранный</PresentationFormat>
  <Paragraphs>295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Planwise — Классный час</dc:title>
  <dc:subject>PptxGenJS Presentation</dc:subject>
  <dc:creator>Planwise team</dc:creator>
  <cp:lastModifiedBy>Admin</cp:lastModifiedBy>
  <cp:revision>4</cp:revision>
  <dcterms:created xsi:type="dcterms:W3CDTF">2026-05-27T23:08:54Z</dcterms:created>
  <dcterms:modified xsi:type="dcterms:W3CDTF">2026-05-28T09:35:50Z</dcterms:modified>
</cp:coreProperties>
</file>